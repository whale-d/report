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4" r:id="rId4"/>
    <p:sldId id="265" r:id="rId5"/>
    <p:sldId id="266" r:id="rId6"/>
    <p:sldId id="257" r:id="rId7"/>
    <p:sldId id="258" r:id="rId8"/>
    <p:sldId id="259" r:id="rId9"/>
    <p:sldId id="260" r:id="rId10"/>
    <p:sldId id="261" r:id="rId11"/>
    <p:sldId id="262" r:id="rId12"/>
    <p:sldId id="263"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1" userDrawn="1">
          <p15:clr>
            <a:srgbClr val="A4A3A4"/>
          </p15:clr>
        </p15:guide>
        <p15:guide id="2" pos="38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FE6EFA6-3064-49AA-B863-4E06F09C1142}" styleName="补充样式8 19">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30000"/>
                  <a:lumOff val="70000"/>
                </a:schemeClr>
              </a:solidFill>
              <a:prstDash val="solid"/>
            </a:ln>
          </a:insideH>
          <a:insideV>
            <a:ln>
              <a:noFill/>
            </a:ln>
          </a:insideV>
        </a:tcBdr>
        <a:fill>
          <a:solidFill>
            <a:schemeClr val="bg1">
              <a:alpha val="0"/>
            </a:schemeClr>
          </a:solidFill>
        </a:fill>
      </a:tcStyle>
    </a:wholeTbl>
    <a:band1H>
      <a:tcStyle>
        <a:tcBdr/>
        <a:fill>
          <a:solidFill>
            <a:schemeClr val="accent1">
              <a:lumMod val="40000"/>
              <a:lumOff val="60000"/>
              <a:alpha val="25000"/>
            </a:schemeClr>
          </a:solidFill>
        </a:fill>
      </a:tcStyle>
    </a:band1H>
    <a:band1V>
      <a:tcStyle>
        <a:tcBdr/>
        <a:fill>
          <a:solidFill>
            <a:schemeClr val="accent1">
              <a:lumMod val="40000"/>
              <a:lumOff val="60000"/>
              <a:alpha val="25000"/>
            </a:schemeClr>
          </a:solidFill>
        </a:fill>
      </a:tcStyle>
    </a:band1V>
    <a:firstCol>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bg1">
                  <a:lumMod val="92000"/>
                </a:schemeClr>
              </a:solidFill>
              <a:prstDash val="solid"/>
            </a:ln>
          </a:insideH>
          <a:insideV>
            <a:ln>
              <a:noFill/>
            </a:ln>
          </a:insideV>
        </a:tcBdr>
        <a:fill>
          <a:solidFill>
            <a:schemeClr val="accent1"/>
          </a:solidFill>
        </a:fill>
      </a:tcStyle>
    </a:firstCol>
  </a:tblStyle>
  <a:tblStyle styleId="{33F75F28-A237-46B6-A18A-C575CD5713CB}" styleName="补充样式11">
    <a:wholeTbl>
      <a:tcTxStyle>
        <a:fontRef idx="none">
          <a:srgbClr val="08090C"/>
        </a:fontRef>
      </a:tcTxStyle>
      <a:tcStyle>
        <a:tcBdr>
          <a:left>
            <a:ln>
              <a:noFill/>
            </a:ln>
          </a:left>
          <a:right>
            <a:ln>
              <a:noFill/>
            </a:ln>
          </a:right>
          <a:top>
            <a:ln w="12700" cmpd="sng">
              <a:solidFill>
                <a:schemeClr val="accent4"/>
              </a:solidFill>
              <a:prstDash val="solid"/>
            </a:ln>
          </a:top>
          <a:bottom>
            <a:ln w="12700" cmpd="sng">
              <a:solidFill>
                <a:schemeClr val="accent4"/>
              </a:solidFill>
              <a:prstDash val="solid"/>
            </a:ln>
          </a:bottom>
          <a:insideH>
            <a:ln w="12700" cmpd="sng">
              <a:solidFill>
                <a:srgbClr val="FFFFFF"/>
              </a:solidFill>
              <a:prstDash val="solid"/>
            </a:ln>
          </a:insideH>
          <a:insideV>
            <a:ln w="12700" cmpd="sng">
              <a:solidFill>
                <a:srgbClr val="FFFFFF"/>
              </a:solidFill>
              <a:prstDash val="solid"/>
            </a:ln>
          </a:insideV>
        </a:tcBdr>
        <a:fill>
          <a:solidFill>
            <a:schemeClr val="accent4">
              <a:lumMod val="10000"/>
              <a:lumOff val="90000"/>
            </a:schemeClr>
          </a:solidFill>
        </a:fill>
      </a:tcStyle>
    </a:wholeTbl>
    <a:band2H>
      <a:tcStyle>
        <a:tcBdr/>
        <a:fill>
          <a:solidFill>
            <a:schemeClr val="accent4">
              <a:lumMod val="20002"/>
              <a:lumOff val="79998"/>
            </a:schemeClr>
          </a:solidFill>
        </a:fill>
      </a:tcStyle>
    </a:band2H>
    <a:band1V>
      <a:tcStyle>
        <a:tcBdr>
          <a:left>
            <a:ln>
              <a:noFill/>
            </a:ln>
          </a:left>
          <a:right>
            <a:ln>
              <a:noFill/>
            </a:ln>
          </a:right>
          <a:top>
            <a:ln w="12700" cmpd="sng">
              <a:solidFill>
                <a:schemeClr val="accent4"/>
              </a:solidFill>
              <a:prstDash val="solid"/>
            </a:ln>
          </a:top>
          <a:bottom>
            <a:ln w="12700" cmpd="sng">
              <a:solidFill>
                <a:schemeClr val="accent4"/>
              </a:solidFill>
              <a:prstDash val="solid"/>
            </a:ln>
          </a:bottom>
          <a:insideH>
            <a:ln w="12700" cmpd="sng">
              <a:solidFill>
                <a:srgbClr val="FFFFFF"/>
              </a:solidFill>
              <a:prstDash val="solid"/>
            </a:ln>
          </a:insideH>
          <a:insideV>
            <a:ln>
              <a:noFill/>
            </a:ln>
          </a:insideV>
        </a:tcBdr>
        <a:fill>
          <a:solidFill>
            <a:schemeClr val="accent4">
              <a:lumMod val="20000"/>
              <a:lumOff val="80000"/>
            </a:schemeClr>
          </a:solidFill>
        </a:fill>
      </a:tcStyle>
    </a:band1V>
    <a:band2V>
      <a:tcStyle>
        <a:tcBdr>
          <a:left>
            <a:ln w="12700" cmpd="sng">
              <a:solidFill>
                <a:srgbClr val="FFFFFF"/>
              </a:solidFill>
              <a:prstDash val="solid"/>
            </a:ln>
          </a:left>
          <a:right>
            <a:ln w="12700" cmpd="sng">
              <a:solidFill>
                <a:srgbClr val="FFFFFF"/>
              </a:solidFill>
              <a:prstDash val="solid"/>
            </a:ln>
          </a:right>
          <a:top>
            <a:ln w="12700" cmpd="sng">
              <a:solidFill>
                <a:schemeClr val="accent4"/>
              </a:solidFill>
              <a:prstDash val="solid"/>
            </a:ln>
          </a:top>
          <a:bottom>
            <a:ln w="12700" cmpd="sng">
              <a:solidFill>
                <a:schemeClr val="accent4"/>
              </a:solidFill>
              <a:prstDash val="solid"/>
            </a:ln>
          </a:bottom>
          <a:insideH>
            <a:ln w="12700" cmpd="sng">
              <a:solidFill>
                <a:srgbClr val="FFFFFF"/>
              </a:solidFill>
              <a:prstDash val="solid"/>
            </a:ln>
          </a:insideH>
          <a:insideV>
            <a:ln>
              <a:noFill/>
            </a:ln>
          </a:insideV>
        </a:tcBdr>
      </a:tcStyle>
    </a:band2V>
    <a:lastCol>
      <a:tcTxStyle b="on">
        <a:fontRef idx="none">
          <a:srgbClr val="08090C"/>
        </a:fontRef>
      </a:tcTxStyle>
      <a:tcStyle>
        <a:tcBdr>
          <a:left>
            <a:ln w="12700" cmpd="sng">
              <a:solidFill>
                <a:srgbClr val="FFFFFF"/>
              </a:solidFill>
              <a:prstDash val="solid"/>
            </a:ln>
          </a:left>
          <a:right>
            <a:ln>
              <a:noFill/>
            </a:ln>
          </a:right>
          <a:top>
            <a:ln w="12700" cmpd="sng">
              <a:solidFill>
                <a:schemeClr val="accent4"/>
              </a:solidFill>
              <a:prstDash val="solid"/>
            </a:ln>
          </a:top>
          <a:bottom>
            <a:ln w="12700" cmpd="sng">
              <a:solidFill>
                <a:schemeClr val="accent4"/>
              </a:solidFill>
              <a:prstDash val="solid"/>
            </a:ln>
          </a:bottom>
          <a:insideH>
            <a:ln w="12700" cmpd="sng">
              <a:solidFill>
                <a:srgbClr val="FFFFFF"/>
              </a:solidFill>
              <a:prstDash val="solid"/>
            </a:ln>
          </a:insideH>
          <a:insideV>
            <a:ln>
              <a:noFill/>
            </a:ln>
          </a:insideV>
        </a:tcBdr>
        <a:fill>
          <a:solidFill>
            <a:schemeClr val="accent4">
              <a:lumMod val="20002"/>
              <a:lumOff val="79998"/>
            </a:schemeClr>
          </a:solidFill>
        </a:fill>
      </a:tcStyle>
    </a:lastCol>
    <a:firstCol>
      <a:tcTxStyle b="on">
        <a:fontRef idx="none">
          <a:srgbClr val="08090C"/>
        </a:fontRef>
      </a:tcTxStyle>
      <a:tcStyle>
        <a:tcBdr>
          <a:left>
            <a:ln>
              <a:noFill/>
            </a:ln>
          </a:left>
          <a:right>
            <a:ln w="12700" cmpd="sng">
              <a:solidFill>
                <a:srgbClr val="FFFFFF"/>
              </a:solidFill>
              <a:prstDash val="solid"/>
            </a:ln>
          </a:right>
          <a:top>
            <a:ln w="12700" cmpd="sng">
              <a:solidFill>
                <a:schemeClr val="accent4"/>
              </a:solidFill>
              <a:prstDash val="solid"/>
            </a:ln>
          </a:top>
          <a:bottom>
            <a:ln w="12700" cmpd="sng">
              <a:solidFill>
                <a:schemeClr val="accent4"/>
              </a:solidFill>
              <a:prstDash val="solid"/>
            </a:ln>
          </a:bottom>
          <a:insideH>
            <a:ln w="12700" cmpd="sng">
              <a:solidFill>
                <a:srgbClr val="FFFFFF"/>
              </a:solidFill>
              <a:prstDash val="solid"/>
            </a:ln>
          </a:insideH>
          <a:insideV>
            <a:ln>
              <a:noFill/>
            </a:ln>
          </a:insideV>
        </a:tcBdr>
        <a:fill>
          <a:solidFill>
            <a:schemeClr val="accent4">
              <a:lumMod val="20002"/>
              <a:lumOff val="79998"/>
            </a:schemeClr>
          </a:solidFill>
        </a:fill>
      </a:tcStyle>
    </a:firstCol>
    <a:lastRow>
      <a:tcTxStyle b="on">
        <a:fontRef idx="none">
          <a:srgbClr val="FFFFFF"/>
        </a:fontRef>
      </a:tcTxStyle>
      <a:tcStyle>
        <a:tcBdr>
          <a:left>
            <a:ln>
              <a:noFill/>
            </a:ln>
          </a:left>
          <a:right>
            <a:ln>
              <a:noFill/>
            </a:ln>
          </a:right>
          <a:top>
            <a:ln w="19050" cmpd="sng">
              <a:solidFill>
                <a:schemeClr val="bg1"/>
              </a:solidFill>
              <a:prstDash val="solid"/>
            </a:ln>
          </a:top>
          <a:bottom>
            <a:ln>
              <a:noFill/>
            </a:ln>
          </a:bottom>
          <a:insideH>
            <a:ln>
              <a:noFill/>
            </a:ln>
          </a:insideH>
          <a:insideV>
            <a:ln>
              <a:noFill/>
            </a:ln>
          </a:insideV>
        </a:tcBdr>
        <a:fill>
          <a:solidFill>
            <a:schemeClr val="accent4"/>
          </a:solidFill>
        </a:fill>
      </a:tcStyle>
    </a:lastRow>
    <a:seCell>
      <a:tcTxStyle b="on">
        <a:fontRef idx="none">
          <a:srgbClr val="FFFFFF"/>
        </a:fontRef>
      </a:tcTxStyle>
      <a:tcStyle>
        <a:tcBdr>
          <a:left>
            <a:ln>
              <a:noFill/>
            </a:ln>
          </a:left>
          <a:right>
            <a:ln>
              <a:noFill/>
            </a:ln>
          </a:right>
          <a:top>
            <a:ln w="19050" cmpd="sng">
              <a:solidFill>
                <a:srgbClr val="FFFFFF"/>
              </a:solidFill>
              <a:prstDash val="solid"/>
            </a:ln>
          </a:top>
          <a:bottom>
            <a:ln>
              <a:noFill/>
            </a:ln>
          </a:bottom>
          <a:insideH>
            <a:ln>
              <a:noFill/>
            </a:ln>
          </a:insideH>
          <a:insideV>
            <a:ln>
              <a:noFill/>
            </a:ln>
          </a:insideV>
        </a:tcBdr>
        <a:fill>
          <a:solidFill>
            <a:schemeClr val="accent4"/>
          </a:solidFill>
        </a:fill>
      </a:tcStyle>
    </a:seCell>
    <a:swCell>
      <a:tcTxStyle b="on">
        <a:fontRef idx="none">
          <a:srgbClr val="FFFFFF"/>
        </a:fontRef>
      </a:tcTxStyle>
      <a:tcStyle>
        <a:tcBdr>
          <a:left>
            <a:ln>
              <a:noFill/>
            </a:ln>
          </a:left>
          <a:right>
            <a:ln>
              <a:noFill/>
            </a:ln>
          </a:right>
          <a:top>
            <a:ln w="19050" cmpd="sng">
              <a:solidFill>
                <a:srgbClr val="FFFFFF"/>
              </a:solidFill>
              <a:prstDash val="solid"/>
            </a:ln>
          </a:top>
          <a:bottom>
            <a:ln>
              <a:noFill/>
            </a:ln>
          </a:bottom>
          <a:insideH>
            <a:ln>
              <a:noFill/>
            </a:ln>
          </a:insideH>
          <a:insideV>
            <a:ln>
              <a:noFill/>
            </a:ln>
          </a:insideV>
        </a:tcBdr>
        <a:fill>
          <a:solidFill>
            <a:schemeClr val="accent4"/>
          </a:solidFill>
        </a:fill>
      </a:tcStyle>
    </a:swCell>
    <a:firstRow>
      <a:tcTxStyle b="on">
        <a:fontRef idx="none">
          <a:srgbClr val="FFFFFF"/>
        </a:fontRef>
      </a:tcTxStyle>
      <a:tcStyle>
        <a:tcBdr>
          <a:left>
            <a:ln>
              <a:noFill/>
            </a:ln>
          </a:left>
          <a:right>
            <a:ln>
              <a:noFill/>
            </a:ln>
          </a:right>
          <a:top>
            <a:ln>
              <a:noFill/>
            </a:ln>
          </a:top>
          <a:bottom>
            <a:ln>
              <a:noFill/>
            </a:ln>
          </a:bottom>
          <a:insideH>
            <a:ln w="12700" cmpd="sng">
              <a:solidFill>
                <a:srgbClr val="FFFFFF"/>
              </a:solidFill>
              <a:prstDash val="solid"/>
            </a:ln>
          </a:insideH>
          <a:insideV>
            <a:ln w="12700" cmpd="sng">
              <a:solidFill>
                <a:srgbClr val="FFFFFF"/>
              </a:solidFill>
              <a:prstDash val="solid"/>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1"/>
        <p:guide pos="383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90.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0.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3.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82.xml"/><Relationship Id="rId1" Type="http://schemas.openxmlformats.org/officeDocument/2006/relationships/tags" Target="../tags/tag81.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8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85.xml"/><Relationship Id="rId1" Type="http://schemas.openxmlformats.org/officeDocument/2006/relationships/tags" Target="../tags/tag8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42</a:t>
            </a:r>
            <a:r>
              <a:rPr lang="zh-CN" altLang="en-US"/>
              <a:t>汇报</a:t>
            </a:r>
            <a:endParaRPr lang="zh-CN" altLang="en-US"/>
          </a:p>
        </p:txBody>
      </p:sp>
      <p:sp>
        <p:nvSpPr>
          <p:cNvPr id="3" name="副标题 2"/>
          <p:cNvSpPr>
            <a:spLocks noGrp="1"/>
          </p:cNvSpPr>
          <p:nvPr>
            <p:ph type="subTitle" idx="1"/>
            <p:custDataLst>
              <p:tags r:id="rId2"/>
            </p:custDataLst>
          </p:nvPr>
        </p:nvSpPr>
        <p:spPr/>
        <p:txBody>
          <a:bodyPr/>
          <a:p>
            <a:r>
              <a:rPr lang="en-US" altLang="zh-CN"/>
              <a:t>11.14</a:t>
            </a:r>
            <a:r>
              <a:rPr lang="zh-CN" altLang="en-US"/>
              <a:t>蔡依柠</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关于对最终强度影响因素的调研</a:t>
            </a:r>
            <a:endParaRPr lang="zh-CN" altLang="en-US"/>
          </a:p>
        </p:txBody>
      </p:sp>
      <p:sp>
        <p:nvSpPr>
          <p:cNvPr id="3" name="内容占位符 2"/>
          <p:cNvSpPr>
            <a:spLocks noGrp="1"/>
          </p:cNvSpPr>
          <p:nvPr>
            <p:ph idx="1"/>
            <p:custDataLst>
              <p:tags r:id="rId2"/>
            </p:custDataLst>
          </p:nvPr>
        </p:nvSpPr>
        <p:spPr/>
        <p:txBody>
          <a:bodyPr/>
          <a:p>
            <a:endParaRPr lang="zh-CN" altLang="en-US"/>
          </a:p>
        </p:txBody>
      </p:sp>
      <p:graphicFrame>
        <p:nvGraphicFramePr>
          <p:cNvPr id="4" name="表格 3"/>
          <p:cNvGraphicFramePr/>
          <p:nvPr>
            <p:custDataLst>
              <p:tags r:id="rId3"/>
            </p:custDataLst>
          </p:nvPr>
        </p:nvGraphicFramePr>
        <p:xfrm>
          <a:off x="853440" y="1874520"/>
          <a:ext cx="8868410" cy="4077970"/>
        </p:xfrm>
        <a:graphic>
          <a:graphicData uri="http://schemas.openxmlformats.org/drawingml/2006/table">
            <a:tbl>
              <a:tblPr firstCol="1" bandRow="1">
                <a:tableStyleId>{6FE6EFA6-3064-49AA-B863-4E06F09C1142}</a:tableStyleId>
              </a:tblPr>
              <a:tblGrid>
                <a:gridCol w="3119120"/>
                <a:gridCol w="5749290"/>
              </a:tblGrid>
              <a:tr h="963295">
                <a:tc>
                  <a:txBody>
                    <a:bodyPr/>
                    <a:p>
                      <a:pPr marL="0" indent="0" algn="ctr" fontAlgn="base">
                        <a:spcBef>
                          <a:spcPct val="0"/>
                        </a:spcBef>
                        <a:spcAft>
                          <a:spcPct val="0"/>
                        </a:spcAft>
                      </a:pPr>
                      <a:r>
                        <a:rPr lang="zh-CN" altLang="en-US" sz="1600"/>
                        <a:t>表面粗糙度</a:t>
                      </a:r>
                      <a:r>
                        <a:rPr lang="en-US" altLang="zh-CN" sz="1600"/>
                        <a:t>​</a:t>
                      </a:r>
                      <a:endParaRPr lang="en-US" altLang="zh-CN" sz="1600"/>
                    </a:p>
                  </a:txBody>
                  <a:tcPr marL="0" marR="91757" marT="76517" marB="76517" anchor="ctr" anchorCtr="0"/>
                </a:tc>
                <a:tc>
                  <a:txBody>
                    <a:bodyPr/>
                    <a:p>
                      <a:pPr marL="0" indent="0" algn="ctr" fontAlgn="ctr">
                        <a:spcBef>
                          <a:spcPct val="0"/>
                        </a:spcBef>
                        <a:spcAft>
                          <a:spcPct val="0"/>
                        </a:spcAft>
                      </a:pPr>
                      <a:r>
                        <a:rPr lang="zh-CN" altLang="en-US" sz="1600"/>
                        <a:t>复合材料粘接研究中，表面粗糙度（</a:t>
                      </a:r>
                      <a:r>
                        <a:rPr lang="en-US" altLang="zh-CN" sz="1600"/>
                        <a:t>Ra</a:t>
                      </a:r>
                      <a:r>
                        <a:rPr lang="zh-CN" altLang="en-US" sz="1600"/>
                        <a:t>）存在最佳区间。过低导致机械互锁不足；过高则胶液无法完全浸润凹坑，形成缺陷。</a:t>
                      </a:r>
                      <a:endParaRPr lang="zh-CN" altLang="en-US" sz="1600"/>
                    </a:p>
                  </a:txBody>
                  <a:tcPr marL="0" marR="91757" marT="76517" marB="76517" anchor="ctr" anchorCtr="0"/>
                </a:tc>
              </a:tr>
              <a:tr h="716915">
                <a:tc>
                  <a:txBody>
                    <a:bodyPr/>
                    <a:p>
                      <a:pPr marL="0" indent="0" algn="ctr" fontAlgn="base">
                        <a:spcBef>
                          <a:spcPct val="0"/>
                        </a:spcBef>
                        <a:spcAft>
                          <a:spcPct val="0"/>
                        </a:spcAft>
                      </a:pPr>
                      <a:r>
                        <a:rPr lang="zh-CN" altLang="en-US" sz="1600"/>
                        <a:t>表面能</a:t>
                      </a:r>
                      <a:r>
                        <a:rPr lang="en-US" altLang="zh-CN" sz="1600"/>
                        <a:t>​</a:t>
                      </a:r>
                      <a:endParaRPr lang="en-US" altLang="zh-CN" sz="1600"/>
                    </a:p>
                  </a:txBody>
                  <a:tcPr marL="0" marR="91757" marT="76517" marB="76517" anchor="ctr" anchorCtr="0"/>
                </a:tc>
                <a:tc>
                  <a:txBody>
                    <a:bodyPr/>
                    <a:p>
                      <a:pPr marL="0" indent="0" algn="ctr" fontAlgn="ctr">
                        <a:spcBef>
                          <a:spcPct val="0"/>
                        </a:spcBef>
                        <a:spcAft>
                          <a:spcPct val="0"/>
                        </a:spcAft>
                      </a:pPr>
                      <a:r>
                        <a:rPr lang="zh-CN" altLang="en-US" sz="1600"/>
                        <a:t>通过等离子体处理改变聚合物表面能，处理后可显著提高粘接强度。</a:t>
                      </a:r>
                      <a:endParaRPr lang="zh-CN" altLang="en-US" sz="1600"/>
                    </a:p>
                  </a:txBody>
                  <a:tcPr marL="0" marR="91757" marT="76517" marB="76517" anchor="ctr" anchorCtr="0"/>
                </a:tc>
              </a:tr>
              <a:tr h="717550">
                <a:tc>
                  <a:txBody>
                    <a:bodyPr/>
                    <a:p>
                      <a:pPr marL="0" indent="0" algn="ctr" fontAlgn="base">
                        <a:spcBef>
                          <a:spcPct val="0"/>
                        </a:spcBef>
                        <a:spcAft>
                          <a:spcPct val="0"/>
                        </a:spcAft>
                      </a:pPr>
                      <a:r>
                        <a:rPr lang="zh-CN" altLang="en-US" sz="1600"/>
                        <a:t>化学组成</a:t>
                      </a:r>
                      <a:r>
                        <a:rPr lang="en-US" altLang="zh-CN" sz="1600"/>
                        <a:t>​</a:t>
                      </a:r>
                      <a:endParaRPr lang="en-US" altLang="zh-CN" sz="1600"/>
                    </a:p>
                  </a:txBody>
                  <a:tcPr marL="0" marR="91757" marT="76517" marB="76517" anchor="ctr" anchorCtr="0"/>
                </a:tc>
                <a:tc>
                  <a:txBody>
                    <a:bodyPr/>
                    <a:p>
                      <a:pPr marL="0" indent="0" algn="ctr" fontAlgn="ctr">
                        <a:spcBef>
                          <a:spcPct val="0"/>
                        </a:spcBef>
                        <a:spcAft>
                          <a:spcPct val="0"/>
                        </a:spcAft>
                      </a:pPr>
                      <a:r>
                        <a:rPr lang="zh-CN" altLang="en-US" sz="1600"/>
                        <a:t>研究不同偶联剂（如硅烷偶联剂）对基材表面化学改性的效果。</a:t>
                      </a:r>
                      <a:endParaRPr lang="zh-CN" altLang="en-US" sz="1600"/>
                    </a:p>
                  </a:txBody>
                  <a:tcPr marL="0" marR="91757" marT="76517" marB="76517" anchor="ctr" anchorCtr="0"/>
                </a:tc>
              </a:tr>
              <a:tr h="716915">
                <a:tc>
                  <a:txBody>
                    <a:bodyPr/>
                    <a:p>
                      <a:pPr marL="0" indent="0" algn="ctr" fontAlgn="base">
                        <a:spcBef>
                          <a:spcPct val="0"/>
                        </a:spcBef>
                        <a:spcAft>
                          <a:spcPct val="0"/>
                        </a:spcAft>
                      </a:pPr>
                      <a:r>
                        <a:rPr lang="zh-CN" altLang="en-US" sz="1600"/>
                        <a:t>施胶量</a:t>
                      </a:r>
                      <a:r>
                        <a:rPr lang="en-US" altLang="zh-CN" sz="1600"/>
                        <a:t>/</a:t>
                      </a:r>
                      <a:r>
                        <a:rPr lang="zh-CN" altLang="en-US" sz="1600"/>
                        <a:t>胶层厚度</a:t>
                      </a:r>
                      <a:r>
                        <a:rPr lang="en-US" altLang="zh-CN" sz="1600"/>
                        <a:t>​</a:t>
                      </a:r>
                      <a:endParaRPr lang="en-US" altLang="zh-CN" sz="1600"/>
                    </a:p>
                  </a:txBody>
                  <a:tcPr marL="0" marR="91757" marT="76517" marB="76517" anchor="ctr" anchorCtr="0"/>
                </a:tc>
                <a:tc>
                  <a:txBody>
                    <a:bodyPr/>
                    <a:p>
                      <a:pPr marL="0" indent="0" algn="ctr" fontAlgn="ctr">
                        <a:spcBef>
                          <a:spcPct val="0"/>
                        </a:spcBef>
                        <a:spcAft>
                          <a:spcPct val="0"/>
                        </a:spcAft>
                      </a:pPr>
                      <a:r>
                        <a:rPr lang="zh-CN" altLang="en-US" sz="1600"/>
                        <a:t>胶层厚度是影响粘接强度的最关键参数之一。存在一个最佳厚度范围。</a:t>
                      </a:r>
                      <a:endParaRPr lang="zh-CN" altLang="en-US" sz="1600"/>
                    </a:p>
                  </a:txBody>
                  <a:tcPr marL="0" marR="91757" marT="76517" marB="76517" anchor="ctr" anchorCtr="0"/>
                </a:tc>
              </a:tr>
              <a:tr h="963295">
                <a:tc>
                  <a:txBody>
                    <a:bodyPr/>
                    <a:p>
                      <a:pPr marL="0" indent="0" algn="ctr" fontAlgn="base">
                        <a:spcBef>
                          <a:spcPct val="0"/>
                        </a:spcBef>
                        <a:spcAft>
                          <a:spcPct val="0"/>
                        </a:spcAft>
                      </a:pPr>
                      <a:r>
                        <a:rPr lang="zh-CN" altLang="en-US" sz="1600"/>
                        <a:t>固化条件（温度</a:t>
                      </a:r>
                      <a:r>
                        <a:rPr lang="en-US" altLang="zh-CN" sz="1600"/>
                        <a:t>/</a:t>
                      </a:r>
                      <a:r>
                        <a:rPr lang="zh-CN" altLang="en-US" sz="1600"/>
                        <a:t>时间</a:t>
                      </a:r>
                      <a:r>
                        <a:rPr lang="en-US" altLang="zh-CN" sz="1600"/>
                        <a:t>/</a:t>
                      </a:r>
                      <a:r>
                        <a:rPr lang="zh-CN" altLang="en-US" sz="1600"/>
                        <a:t>压力）</a:t>
                      </a:r>
                      <a:r>
                        <a:rPr lang="en-US" altLang="zh-CN" sz="1600"/>
                        <a:t>​</a:t>
                      </a:r>
                      <a:endParaRPr lang="en-US" altLang="zh-CN" sz="1600"/>
                    </a:p>
                  </a:txBody>
                  <a:tcPr marL="0" marR="91757" marT="76517" marB="76517" anchor="ctr" anchorCtr="0"/>
                </a:tc>
                <a:tc>
                  <a:txBody>
                    <a:bodyPr/>
                    <a:p>
                      <a:pPr marL="0" indent="0" algn="ctr" fontAlgn="ctr">
                        <a:spcBef>
                          <a:spcPct val="0"/>
                        </a:spcBef>
                        <a:spcAft>
                          <a:spcPct val="0"/>
                        </a:spcAft>
                      </a:pPr>
                      <a:r>
                        <a:rPr lang="zh-CN" altLang="en-US" sz="1600"/>
                        <a:t>这是研究最广泛的领域。固化度是连接工艺与最终性能的核心内部变量。</a:t>
                      </a:r>
                      <a:endParaRPr lang="zh-CN" altLang="en-US" sz="1600"/>
                    </a:p>
                  </a:txBody>
                  <a:tcPr marL="0" marR="91757" marT="76517" marB="76517" anchor="ctr" anchorCtr="0"/>
                </a:tc>
              </a:tr>
            </a:tbl>
          </a:graphicData>
        </a:graphic>
      </p:graphicFrame>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358775" y="240030"/>
            <a:ext cx="10968990" cy="2934970"/>
          </a:xfrm>
          <a:prstGeom prst="rect">
            <a:avLst/>
          </a:prstGeom>
        </p:spPr>
      </p:pic>
      <p:pic>
        <p:nvPicPr>
          <p:cNvPr id="5" name="图片 4"/>
          <p:cNvPicPr>
            <a:picLocks noChangeAspect="1"/>
          </p:cNvPicPr>
          <p:nvPr/>
        </p:nvPicPr>
        <p:blipFill>
          <a:blip r:embed="rId4"/>
          <a:srcRect t="11495"/>
          <a:stretch>
            <a:fillRect/>
          </a:stretch>
        </p:blipFill>
        <p:spPr>
          <a:xfrm>
            <a:off x="222885" y="3175000"/>
            <a:ext cx="10963910" cy="2713355"/>
          </a:xfrm>
          <a:prstGeom prst="rect">
            <a:avLst/>
          </a:prstGeom>
        </p:spPr>
      </p:pic>
      <p:cxnSp>
        <p:nvCxnSpPr>
          <p:cNvPr id="6" name="直接连接符 5"/>
          <p:cNvCxnSpPr/>
          <p:nvPr/>
        </p:nvCxnSpPr>
        <p:spPr>
          <a:xfrm flipV="1">
            <a:off x="3726815" y="4857115"/>
            <a:ext cx="6247765" cy="10795"/>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cxnSp>
        <p:nvCxnSpPr>
          <p:cNvPr id="7" name="直接连接符 6"/>
          <p:cNvCxnSpPr/>
          <p:nvPr/>
        </p:nvCxnSpPr>
        <p:spPr>
          <a:xfrm flipV="1">
            <a:off x="2289175" y="2239010"/>
            <a:ext cx="6247765" cy="10795"/>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
        <p:nvSpPr>
          <p:cNvPr id="8" name="文本框 7"/>
          <p:cNvSpPr txBox="1"/>
          <p:nvPr/>
        </p:nvSpPr>
        <p:spPr>
          <a:xfrm>
            <a:off x="678180" y="5998210"/>
            <a:ext cx="10899140" cy="645160"/>
          </a:xfrm>
          <a:prstGeom prst="rect">
            <a:avLst/>
          </a:prstGeom>
          <a:noFill/>
        </p:spPr>
        <p:txBody>
          <a:bodyPr wrap="square" rtlCol="0">
            <a:spAutoFit/>
          </a:bodyPr>
          <a:p>
            <a:r>
              <a:rPr lang="zh-CN" altLang="en-US">
                <a:solidFill>
                  <a:schemeClr val="tx1"/>
                </a:solidFill>
              </a:rPr>
              <a:t>另一个研究经典教科书《</a:t>
            </a:r>
            <a:r>
              <a:rPr lang="en-US" altLang="zh-CN">
                <a:solidFill>
                  <a:schemeClr val="tx1"/>
                </a:solidFill>
              </a:rPr>
              <a:t>Handbook of Adhesion Technology</a:t>
            </a:r>
            <a:r>
              <a:rPr lang="zh-CN" altLang="en-US">
                <a:solidFill>
                  <a:schemeClr val="tx1"/>
                </a:solidFill>
              </a:rPr>
              <a:t>》以及大量研究文献也</a:t>
            </a:r>
            <a:r>
              <a:rPr lang="zh-CN" altLang="en-US">
                <a:solidFill>
                  <a:srgbClr val="FF0000"/>
                </a:solidFill>
              </a:rPr>
              <a:t>明确指出最佳胶层厚度约为</a:t>
            </a:r>
            <a:r>
              <a:rPr lang="en-US" altLang="zh-CN">
                <a:solidFill>
                  <a:srgbClr val="FF0000"/>
                </a:solidFill>
              </a:rPr>
              <a:t>0.1~0.2mm</a:t>
            </a:r>
            <a:endParaRPr lang="en-US" altLang="zh-CN">
              <a:solidFill>
                <a:srgbClr val="FF0000"/>
              </a:solidFill>
            </a:endParaRPr>
          </a:p>
        </p:txBody>
      </p:sp>
      <p:cxnSp>
        <p:nvCxnSpPr>
          <p:cNvPr id="3" name="直接连接符 2"/>
          <p:cNvCxnSpPr/>
          <p:nvPr/>
        </p:nvCxnSpPr>
        <p:spPr>
          <a:xfrm>
            <a:off x="2870200" y="2980690"/>
            <a:ext cx="2602865" cy="10160"/>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tretch>
            <a:fillRect/>
          </a:stretch>
        </p:blipFill>
        <p:spPr>
          <a:xfrm>
            <a:off x="409575" y="509270"/>
            <a:ext cx="11782425" cy="1875790"/>
          </a:xfrm>
          <a:prstGeom prst="rect">
            <a:avLst/>
          </a:prstGeom>
        </p:spPr>
      </p:pic>
      <p:cxnSp>
        <p:nvCxnSpPr>
          <p:cNvPr id="11" name="直接连接符 10"/>
          <p:cNvCxnSpPr/>
          <p:nvPr/>
        </p:nvCxnSpPr>
        <p:spPr>
          <a:xfrm>
            <a:off x="5197475" y="1625600"/>
            <a:ext cx="5068570" cy="15240"/>
          </a:xfrm>
          <a:prstGeom prst="line">
            <a:avLst/>
          </a:prstGeom>
          <a:ln w="31750" cap="rnd">
            <a:solidFill>
              <a:schemeClr val="accent6"/>
            </a:solidFill>
            <a:round/>
          </a:ln>
        </p:spPr>
        <p:style>
          <a:lnRef idx="0">
            <a:srgbClr val="FFFFFF"/>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530295" y="1384355"/>
            <a:ext cx="10969200" cy="4759200"/>
          </a:xfrm>
        </p:spPr>
        <p:txBody>
          <a:bodyPr>
            <a:normAutofit fontScale="90000" lnSpcReduction="20000"/>
          </a:bodyPr>
          <a:p>
            <a:r>
              <a:rPr lang="en-US" altLang="zh-CN"/>
              <a:t>Impact of Curing Time and Temperature on Bond Performance of Epoxy Resin Adhesives for Steel Bridge Decks </a:t>
            </a:r>
            <a:endParaRPr lang="en-US" altLang="zh-CN"/>
          </a:p>
          <a:p>
            <a:r>
              <a:rPr lang="zh-CN" altLang="en-US"/>
              <a:t>核心结论，对于</a:t>
            </a:r>
            <a:r>
              <a:rPr lang="zh-CN" altLang="en-US">
                <a:solidFill>
                  <a:srgbClr val="FF0000"/>
                </a:solidFill>
              </a:rPr>
              <a:t>环氧粘合剂</a:t>
            </a:r>
            <a:r>
              <a:rPr lang="zh-CN" altLang="en-US"/>
              <a:t>，认为固化时间越长，温度越高，最终的粘性就越好。在</a:t>
            </a:r>
            <a:r>
              <a:rPr lang="en-US" altLang="zh-CN"/>
              <a:t>25</a:t>
            </a:r>
            <a:r>
              <a:rPr lang="zh-CN" altLang="en-US"/>
              <a:t>摄氏度，</a:t>
            </a:r>
            <a:r>
              <a:rPr lang="en-US" altLang="zh-CN"/>
              <a:t>72</a:t>
            </a:r>
            <a:r>
              <a:rPr lang="zh-CN" altLang="en-US"/>
              <a:t>小时下可达到最优性能。</a:t>
            </a:r>
            <a:endParaRPr lang="zh-CN" altLang="en-US"/>
          </a:p>
          <a:p>
            <a:r>
              <a:rPr lang="en-US" altLang="zh-CN"/>
              <a:t>Influence of cure time, temperature, and moisture on mechanical properties of a fast cure adhesive for post-installed rebar application. Construction and Building Materials</a:t>
            </a:r>
            <a:endParaRPr lang="zh-CN" altLang="en-US"/>
          </a:p>
          <a:p>
            <a:r>
              <a:rPr lang="zh-CN" altLang="en-US"/>
              <a:t>对于一种</a:t>
            </a:r>
            <a:r>
              <a:rPr lang="zh-CN" altLang="en-US">
                <a:solidFill>
                  <a:srgbClr val="FF0000"/>
                </a:solidFill>
              </a:rPr>
              <a:t>快速固化工业胶</a:t>
            </a:r>
            <a:r>
              <a:rPr lang="zh-CN" altLang="en-US"/>
              <a:t>（用于后植钢筋）</a:t>
            </a:r>
            <a:endParaRPr lang="zh-CN" altLang="en-US"/>
          </a:p>
          <a:p>
            <a:r>
              <a:rPr lang="zh-CN" altLang="en-US"/>
              <a:t>固化时间效应：</a:t>
            </a:r>
            <a:r>
              <a:rPr lang="en-US" altLang="zh-CN"/>
              <a:t> </a:t>
            </a:r>
            <a:r>
              <a:rPr lang="zh-CN" altLang="en-US"/>
              <a:t>固化时间越长，拉伸强度与刚度越高。</a:t>
            </a:r>
            <a:endParaRPr lang="en-US" altLang="zh-CN"/>
          </a:p>
          <a:p>
            <a:r>
              <a:rPr lang="zh-CN" altLang="en-US"/>
              <a:t>湿度效应：</a:t>
            </a:r>
            <a:r>
              <a:rPr lang="en-US" altLang="zh-CN"/>
              <a:t> </a:t>
            </a:r>
            <a:r>
              <a:rPr lang="zh-CN" altLang="en-US"/>
              <a:t>在</a:t>
            </a:r>
            <a:r>
              <a:rPr lang="en-US" altLang="zh-CN"/>
              <a:t>100%RH</a:t>
            </a:r>
            <a:r>
              <a:rPr lang="zh-CN" altLang="en-US"/>
              <a:t>下的样品明显弱化，低于</a:t>
            </a:r>
            <a:r>
              <a:rPr lang="en-US" altLang="zh-CN"/>
              <a:t>50%RH</a:t>
            </a:r>
            <a:r>
              <a:rPr lang="zh-CN" altLang="en-US"/>
              <a:t>条件；</a:t>
            </a:r>
            <a:r>
              <a:rPr lang="zh-CN" altLang="en-US">
                <a:solidFill>
                  <a:srgbClr val="FF0000"/>
                </a:solidFill>
              </a:rPr>
              <a:t>水分抑制强度与刚度发展</a:t>
            </a:r>
            <a:r>
              <a:rPr lang="zh-CN" altLang="en-US"/>
              <a:t>。</a:t>
            </a:r>
            <a:endParaRPr lang="en-US" altLang="zh-CN"/>
          </a:p>
          <a:p>
            <a:r>
              <a:rPr lang="zh-CN" altLang="en-US"/>
              <a:t>温度效应（测试温度）：</a:t>
            </a:r>
            <a:r>
              <a:rPr lang="en-US" altLang="zh-CN"/>
              <a:t> </a:t>
            </a:r>
            <a:r>
              <a:rPr lang="zh-CN" altLang="en-US">
                <a:solidFill>
                  <a:srgbClr val="FF0000"/>
                </a:solidFill>
              </a:rPr>
              <a:t>在</a:t>
            </a:r>
            <a:r>
              <a:rPr lang="en-US" altLang="zh-CN">
                <a:solidFill>
                  <a:srgbClr val="FF0000"/>
                </a:solidFill>
              </a:rPr>
              <a:t>50/80/110 </a:t>
            </a:r>
            <a:r>
              <a:rPr lang="en-US" altLang="en-US">
                <a:solidFill>
                  <a:srgbClr val="FF0000"/>
                </a:solidFill>
              </a:rPr>
              <a:t>°</a:t>
            </a:r>
            <a:r>
              <a:rPr lang="en-US" altLang="zh-CN">
                <a:solidFill>
                  <a:srgbClr val="FF0000"/>
                </a:solidFill>
              </a:rPr>
              <a:t>C</a:t>
            </a:r>
            <a:r>
              <a:rPr lang="zh-CN" altLang="en-US">
                <a:solidFill>
                  <a:srgbClr val="FF0000"/>
                </a:solidFill>
              </a:rPr>
              <a:t>直接测试时，强度与刚度随温度升高而递减</a:t>
            </a:r>
            <a:r>
              <a:rPr lang="zh-CN" altLang="en-US"/>
              <a:t>。</a:t>
            </a:r>
            <a:endParaRPr lang="en-US" altLang="zh-CN"/>
          </a:p>
          <a:p>
            <a:r>
              <a:rPr lang="zh-CN" altLang="en-US"/>
              <a:t>热历史</a:t>
            </a:r>
            <a:r>
              <a:rPr lang="en-US" altLang="zh-CN"/>
              <a:t>/</a:t>
            </a:r>
            <a:r>
              <a:rPr lang="zh-CN" altLang="en-US"/>
              <a:t>后固化：</a:t>
            </a:r>
            <a:r>
              <a:rPr lang="en-US" altLang="zh-CN"/>
              <a:t> </a:t>
            </a:r>
            <a:r>
              <a:rPr lang="zh-CN" altLang="en-US"/>
              <a:t>即便样品曾被预热，该快速固化胶并未表现出显著的热后固化强化；与一些慢固化</a:t>
            </a:r>
            <a:r>
              <a:rPr lang="en-US" altLang="zh-CN"/>
              <a:t>/</a:t>
            </a:r>
            <a:r>
              <a:rPr lang="zh-CN" altLang="en-US"/>
              <a:t>分步聚合体系（如环氧）文献中常见的后固化增强不同。</a:t>
            </a:r>
            <a:endParaRPr lang="en-US" altLang="zh-CN"/>
          </a:p>
          <a:p>
            <a:r>
              <a:rPr lang="zh-CN" altLang="en-US"/>
              <a:t>热分析：</a:t>
            </a:r>
            <a:r>
              <a:rPr lang="en-US" altLang="zh-CN"/>
              <a:t> </a:t>
            </a:r>
            <a:r>
              <a:rPr lang="zh-CN" altLang="en-US"/>
              <a:t>通过热测量量化了初始固化的放热行为对温度的敏感性。</a:t>
            </a:r>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考虑到胶在固化前会有一段等待时间</a:t>
            </a:r>
            <a:endParaRPr lang="zh-CN" altLang="en-US"/>
          </a:p>
        </p:txBody>
      </p:sp>
      <p:sp>
        <p:nvSpPr>
          <p:cNvPr id="3" name="内容占位符 2"/>
          <p:cNvSpPr>
            <a:spLocks noGrp="1"/>
          </p:cNvSpPr>
          <p:nvPr>
            <p:ph idx="1"/>
            <p:custDataLst>
              <p:tags r:id="rId2"/>
            </p:custDataLst>
          </p:nvPr>
        </p:nvSpPr>
        <p:spPr/>
        <p:txBody>
          <a:bodyPr/>
          <a:p>
            <a:r>
              <a:rPr lang="en-US" altLang="zh-CN"/>
              <a:t>Impact of moisture uptake in uncured bond lines on joints (Y. Ahmed </a:t>
            </a:r>
            <a:r>
              <a:rPr lang="zh-CN" altLang="en-US"/>
              <a:t>等</a:t>
            </a:r>
            <a:r>
              <a:rPr lang="en-US" altLang="zh-CN"/>
              <a:t>, 2022)</a:t>
            </a:r>
            <a:endParaRPr lang="en-US" altLang="zh-CN"/>
          </a:p>
          <a:p>
            <a:r>
              <a:rPr lang="en-US" altLang="zh-CN"/>
              <a:t>“</a:t>
            </a:r>
            <a:r>
              <a:rPr lang="zh-CN" altLang="en-US"/>
              <a:t>未固化</a:t>
            </a:r>
            <a:r>
              <a:rPr lang="en-US" altLang="zh-CN"/>
              <a:t>”</a:t>
            </a:r>
            <a:r>
              <a:rPr lang="zh-CN" altLang="en-US"/>
              <a:t>胶层暴露时间越长、温度越高、湿度越高，最终固化后的粘接强度越低。</a:t>
            </a:r>
            <a:endParaRPr lang="zh-CN" altLang="en-US"/>
          </a:p>
          <a:p>
            <a:endParaRPr lang="zh-CN" altLang="en-US"/>
          </a:p>
        </p:txBody>
      </p:sp>
      <p:pic>
        <p:nvPicPr>
          <p:cNvPr id="4" name="图片 3"/>
          <p:cNvPicPr>
            <a:picLocks noChangeAspect="1"/>
          </p:cNvPicPr>
          <p:nvPr/>
        </p:nvPicPr>
        <p:blipFill>
          <a:blip r:embed="rId3"/>
          <a:stretch>
            <a:fillRect/>
          </a:stretch>
        </p:blipFill>
        <p:spPr>
          <a:xfrm>
            <a:off x="843915" y="2605405"/>
            <a:ext cx="4794885" cy="2107565"/>
          </a:xfrm>
          <a:prstGeom prst="rect">
            <a:avLst/>
          </a:prstGeom>
        </p:spPr>
      </p:pic>
      <p:pic>
        <p:nvPicPr>
          <p:cNvPr id="5" name="图片 4"/>
          <p:cNvPicPr>
            <a:picLocks noChangeAspect="1"/>
          </p:cNvPicPr>
          <p:nvPr/>
        </p:nvPicPr>
        <p:blipFill>
          <a:blip r:embed="rId4"/>
          <a:stretch>
            <a:fillRect/>
          </a:stretch>
        </p:blipFill>
        <p:spPr>
          <a:xfrm>
            <a:off x="6061075" y="2605405"/>
            <a:ext cx="5182235" cy="1656715"/>
          </a:xfrm>
          <a:prstGeom prst="rect">
            <a:avLst/>
          </a:prstGeom>
        </p:spPr>
      </p:pic>
      <p:pic>
        <p:nvPicPr>
          <p:cNvPr id="6" name="图片 5"/>
          <p:cNvPicPr>
            <a:picLocks noChangeAspect="1"/>
          </p:cNvPicPr>
          <p:nvPr/>
        </p:nvPicPr>
        <p:blipFill>
          <a:blip r:embed="rId5"/>
          <a:stretch>
            <a:fillRect/>
          </a:stretch>
        </p:blipFill>
        <p:spPr>
          <a:xfrm>
            <a:off x="6061075" y="4370705"/>
            <a:ext cx="5536565" cy="1878965"/>
          </a:xfrm>
          <a:prstGeom prst="rect">
            <a:avLst/>
          </a:prstGeom>
        </p:spPr>
      </p:pic>
      <p:pic>
        <p:nvPicPr>
          <p:cNvPr id="7" name="图片 6"/>
          <p:cNvPicPr>
            <a:picLocks noChangeAspect="1"/>
          </p:cNvPicPr>
          <p:nvPr/>
        </p:nvPicPr>
        <p:blipFill>
          <a:blip r:embed="rId6"/>
          <a:stretch>
            <a:fillRect/>
          </a:stretch>
        </p:blipFill>
        <p:spPr>
          <a:xfrm>
            <a:off x="1005205" y="4712970"/>
            <a:ext cx="4633595" cy="2165350"/>
          </a:xfrm>
          <a:prstGeom prst="rect">
            <a:avLst/>
          </a:prstGeom>
        </p:spPr>
      </p:pic>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83965" y="2394655"/>
            <a:ext cx="10969200" cy="705600"/>
          </a:xfrm>
        </p:spPr>
        <p:txBody>
          <a:bodyPr>
            <a:normAutofit fontScale="90000"/>
          </a:bodyPr>
          <a:p>
            <a:r>
              <a:rPr lang="en-US" altLang="zh-CN"/>
              <a:t>LASSO </a:t>
            </a:r>
            <a:r>
              <a:rPr lang="zh-CN" altLang="en-US"/>
              <a:t>回归</a:t>
            </a:r>
            <a:br>
              <a:rPr lang="zh-CN" altLang="en-US"/>
            </a:br>
            <a:br>
              <a:rPr lang="zh-CN" altLang="en-US"/>
            </a:br>
            <a:br>
              <a:rPr lang="zh-CN" altLang="en-US"/>
            </a:br>
            <a:r>
              <a:rPr lang="zh-CN" altLang="en-US"/>
              <a:t>支持向量回归（</a:t>
            </a:r>
            <a:r>
              <a:rPr lang="en-US" altLang="zh-CN"/>
              <a:t>SVR</a:t>
            </a:r>
            <a:r>
              <a:rPr lang="zh-CN" altLang="en-US"/>
              <a:t>）</a:t>
            </a:r>
            <a:r>
              <a:rPr lang="en-US" altLang="zh-CN"/>
              <a:t>+ </a:t>
            </a:r>
            <a:r>
              <a:rPr lang="zh-CN" altLang="en-US"/>
              <a:t>核函数（处理非线性关系）</a:t>
            </a:r>
            <a:br>
              <a:rPr lang="zh-CN" altLang="en-US"/>
            </a:br>
            <a:br>
              <a:rPr lang="zh-CN" altLang="en-US"/>
            </a:br>
            <a:br>
              <a:rPr lang="zh-CN" altLang="en-US"/>
            </a:br>
            <a:br>
              <a:rPr lang="zh-CN" altLang="en-US"/>
            </a:br>
            <a:br>
              <a:rPr lang="zh-CN" altLang="en-US"/>
            </a:br>
            <a:endParaRPr lang="zh-CN" altLang="en-US"/>
          </a:p>
        </p:txBody>
      </p:sp>
      <p:sp>
        <p:nvSpPr>
          <p:cNvPr id="4" name="文本框 3"/>
          <p:cNvSpPr txBox="1"/>
          <p:nvPr/>
        </p:nvSpPr>
        <p:spPr>
          <a:xfrm>
            <a:off x="608330" y="1232535"/>
            <a:ext cx="6215380" cy="645160"/>
          </a:xfrm>
          <a:prstGeom prst="rect">
            <a:avLst/>
          </a:prstGeom>
          <a:noFill/>
        </p:spPr>
        <p:txBody>
          <a:bodyPr wrap="square" rtlCol="0">
            <a:spAutoFit/>
          </a:bodyPr>
          <a:p>
            <a:r>
              <a:rPr lang="zh-CN" altLang="en-US"/>
              <a:t>通过正则化把线性回归或多项式回归中的某些不重要的系数可以变为</a:t>
            </a:r>
            <a:r>
              <a:rPr lang="en-US" altLang="zh-CN"/>
              <a:t>0</a:t>
            </a:r>
            <a:r>
              <a:rPr lang="zh-CN" altLang="en-US"/>
              <a:t>，来减轻过拟合</a:t>
            </a:r>
            <a:endParaRPr lang="zh-CN" altLang="en-US"/>
          </a:p>
        </p:txBody>
      </p:sp>
      <p:pic>
        <p:nvPicPr>
          <p:cNvPr id="5" name="图片 4"/>
          <p:cNvPicPr>
            <a:picLocks noChangeAspect="1"/>
          </p:cNvPicPr>
          <p:nvPr/>
        </p:nvPicPr>
        <p:blipFill>
          <a:blip r:embed="rId2"/>
          <a:stretch>
            <a:fillRect/>
          </a:stretch>
        </p:blipFill>
        <p:spPr>
          <a:xfrm>
            <a:off x="608330" y="2475230"/>
            <a:ext cx="5412105" cy="1907540"/>
          </a:xfrm>
          <a:prstGeom prst="rect">
            <a:avLst/>
          </a:prstGeom>
        </p:spPr>
      </p:pic>
      <p:pic>
        <p:nvPicPr>
          <p:cNvPr id="6" name="图片 5"/>
          <p:cNvPicPr>
            <a:picLocks noChangeAspect="1"/>
          </p:cNvPicPr>
          <p:nvPr/>
        </p:nvPicPr>
        <p:blipFill>
          <a:blip r:embed="rId3"/>
          <a:stretch>
            <a:fillRect/>
          </a:stretch>
        </p:blipFill>
        <p:spPr>
          <a:xfrm>
            <a:off x="5719445" y="2576830"/>
            <a:ext cx="2688590" cy="1805305"/>
          </a:xfrm>
          <a:prstGeom prst="rect">
            <a:avLst/>
          </a:prstGeom>
        </p:spPr>
      </p:pic>
      <p:sp>
        <p:nvSpPr>
          <p:cNvPr id="7" name="文本框 6"/>
          <p:cNvSpPr txBox="1"/>
          <p:nvPr/>
        </p:nvSpPr>
        <p:spPr>
          <a:xfrm>
            <a:off x="608330" y="4531360"/>
            <a:ext cx="9671050" cy="645160"/>
          </a:xfrm>
          <a:prstGeom prst="rect">
            <a:avLst/>
          </a:prstGeom>
          <a:noFill/>
        </p:spPr>
        <p:txBody>
          <a:bodyPr wrap="square" rtlCol="0">
            <a:spAutoFit/>
          </a:bodyPr>
          <a:p>
            <a:r>
              <a:rPr lang="en-US" altLang="zh-CN"/>
              <a:t>SVR</a:t>
            </a:r>
            <a:r>
              <a:rPr lang="zh-CN" altLang="en-US"/>
              <a:t>的目标是找到一个超平面</a:t>
            </a:r>
            <a:r>
              <a:rPr lang="en-US" altLang="zh-CN"/>
              <a:t>,</a:t>
            </a:r>
            <a:r>
              <a:rPr lang="zh-CN" altLang="en-US"/>
              <a:t>使得大多数训练样本的预测值落在</a:t>
            </a:r>
            <a:r>
              <a:rPr lang="en-US" altLang="zh-CN"/>
              <a:t>e</a:t>
            </a:r>
            <a:r>
              <a:rPr lang="zh-CN" altLang="en-US"/>
              <a:t>范围</a:t>
            </a:r>
            <a:endParaRPr lang="zh-CN" altLang="en-US"/>
          </a:p>
          <a:p>
            <a:r>
              <a:rPr lang="zh-CN" altLang="en-US"/>
              <a:t>内</a:t>
            </a:r>
            <a:r>
              <a:rPr lang="en-US" altLang="zh-CN"/>
              <a:t>,</a:t>
            </a:r>
            <a:r>
              <a:rPr lang="zh-CN" altLang="en-US"/>
              <a:t>同时保证模型的复杂性尽可能低。</a:t>
            </a:r>
            <a:endParaRPr lang="zh-CN" alt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89630"/>
            <a:ext cx="10969200" cy="705600"/>
          </a:xfrm>
        </p:spPr>
        <p:txBody>
          <a:bodyPr>
            <a:normAutofit/>
          </a:bodyPr>
          <a:p>
            <a:r>
              <a:rPr lang="zh-CN" altLang="en-US"/>
              <a:t>稀疏贝叶斯回归（</a:t>
            </a:r>
            <a:r>
              <a:rPr lang="en-US" altLang="zh-CN"/>
              <a:t>SBL</a:t>
            </a:r>
            <a:r>
              <a:rPr lang="zh-CN" altLang="en-US"/>
              <a:t>）</a:t>
            </a:r>
            <a:endParaRPr lang="zh-CN" altLang="en-US"/>
          </a:p>
        </p:txBody>
      </p:sp>
      <p:sp>
        <p:nvSpPr>
          <p:cNvPr id="3" name="内容占位符 2"/>
          <p:cNvSpPr>
            <a:spLocks noGrp="1"/>
          </p:cNvSpPr>
          <p:nvPr>
            <p:ph idx="1"/>
            <p:custDataLst>
              <p:tags r:id="rId2"/>
            </p:custDataLst>
          </p:nvPr>
        </p:nvSpPr>
        <p:spPr>
          <a:xfrm>
            <a:off x="608330" y="995045"/>
            <a:ext cx="10968990" cy="4039870"/>
          </a:xfrm>
        </p:spPr>
        <p:txBody>
          <a:bodyPr/>
          <a:p>
            <a:r>
              <a:rPr lang="zh-CN" altLang="en-US"/>
              <a:t>稀疏贝叶斯学习</a:t>
            </a:r>
            <a:r>
              <a:rPr lang="en-US" altLang="zh-CN"/>
              <a:t>(Sparse Bayesian Learning,SBL)</a:t>
            </a:r>
            <a:r>
              <a:rPr lang="zh-CN" altLang="en-US"/>
              <a:t>是一类将贝叶斯思想与稀疏约束相结合的模型</a:t>
            </a:r>
            <a:r>
              <a:rPr lang="en-US" altLang="zh-CN"/>
              <a:t>,</a:t>
            </a:r>
            <a:r>
              <a:rPr lang="zh-CN" altLang="en-US"/>
              <a:t>旨在自动从高维数据中选择最相关的特征</a:t>
            </a:r>
            <a:r>
              <a:rPr lang="en-US" altLang="zh-CN"/>
              <a:t>(</a:t>
            </a:r>
            <a:r>
              <a:rPr lang="zh-CN" altLang="en-US"/>
              <a:t>即令大部分不重要的权重趋于零</a:t>
            </a:r>
            <a:r>
              <a:rPr lang="en-US" altLang="zh-CN"/>
              <a:t>),</a:t>
            </a:r>
            <a:r>
              <a:rPr lang="zh-CN" altLang="en-US"/>
              <a:t>从而简化模型并提升可解释性</a:t>
            </a:r>
            <a:r>
              <a:rPr lang="en-US" altLang="zh-CN"/>
              <a:t>Q</a:t>
            </a:r>
            <a:r>
              <a:rPr lang="zh-CN" altLang="en-US"/>
              <a:t>。与常见的基于</a:t>
            </a:r>
            <a:r>
              <a:rPr lang="en-US" altLang="zh-CN"/>
              <a:t>L1</a:t>
            </a:r>
            <a:r>
              <a:rPr lang="zh-CN" altLang="en-US"/>
              <a:t>正则化</a:t>
            </a:r>
            <a:r>
              <a:rPr lang="en-US" altLang="zh-CN"/>
              <a:t>(</a:t>
            </a:r>
            <a:r>
              <a:rPr lang="zh-CN" altLang="en-US"/>
              <a:t>如</a:t>
            </a:r>
            <a:r>
              <a:rPr lang="en-US" altLang="zh-CN"/>
              <a:t>Lasso)</a:t>
            </a:r>
            <a:r>
              <a:rPr lang="zh-CN" altLang="en-US"/>
              <a:t>的稀疏方法相比</a:t>
            </a:r>
            <a:r>
              <a:rPr lang="en-US" altLang="zh-CN"/>
              <a:t>,SBL</a:t>
            </a:r>
            <a:r>
              <a:rPr lang="zh-CN" altLang="en-US"/>
              <a:t>还能给出模型参数以及特征重要性的后验分布</a:t>
            </a:r>
            <a:r>
              <a:rPr lang="en-US" altLang="zh-CN"/>
              <a:t>,</a:t>
            </a:r>
            <a:r>
              <a:rPr lang="zh-CN" altLang="en-US"/>
              <a:t>从而量化不确定性。</a:t>
            </a:r>
            <a:endParaRPr lang="zh-CN" altLang="en-US"/>
          </a:p>
          <a:p>
            <a:r>
              <a:rPr lang="zh-CN" altLang="en-US"/>
              <a:t>模型讲解网址：</a:t>
            </a:r>
            <a:r>
              <a:rPr lang="en-US" altLang="zh-CN"/>
              <a:t>https://blog.csdn.net/qq_44648285/article/details/143313531</a:t>
            </a:r>
            <a:endParaRPr lang="en-US" altLang="zh-CN"/>
          </a:p>
          <a:p>
            <a:r>
              <a:rPr lang="zh-CN" altLang="en-US">
                <a:solidFill>
                  <a:schemeClr val="tx1"/>
                </a:solidFill>
              </a:rPr>
              <a:t>适合：高维小样本数据。我们的特征数量较多大约</a:t>
            </a:r>
            <a:r>
              <a:rPr lang="en-US" altLang="zh-CN">
                <a:solidFill>
                  <a:schemeClr val="tx1"/>
                </a:solidFill>
              </a:rPr>
              <a:t>20</a:t>
            </a:r>
            <a:r>
              <a:rPr lang="zh-CN" altLang="en-US">
                <a:solidFill>
                  <a:schemeClr val="tx1"/>
                </a:solidFill>
              </a:rPr>
              <a:t>多个，但样本数量很小，容易造成过拟合</a:t>
            </a:r>
            <a:endParaRPr lang="zh-CN" altLang="en-US">
              <a:solidFill>
                <a:schemeClr val="tx1"/>
              </a:solidFill>
            </a:endParaRPr>
          </a:p>
          <a:p>
            <a:r>
              <a:rPr lang="zh-CN" altLang="en-US">
                <a:solidFill>
                  <a:schemeClr val="tx1"/>
                </a:solidFill>
              </a:rPr>
              <a:t>稀疏性会把一些不太显著的特征直接筛选掉设为</a:t>
            </a:r>
            <a:r>
              <a:rPr lang="en-US" altLang="zh-CN">
                <a:solidFill>
                  <a:schemeClr val="tx1"/>
                </a:solidFill>
              </a:rPr>
              <a:t>0</a:t>
            </a:r>
            <a:r>
              <a:rPr lang="zh-CN" altLang="en-US">
                <a:solidFill>
                  <a:schemeClr val="tx1"/>
                </a:solidFill>
              </a:rPr>
              <a:t>，终点关注哪些与最终结果显著有关的特征</a:t>
            </a:r>
            <a:endParaRPr lang="zh-CN" altLang="en-US">
              <a:solidFill>
                <a:schemeClr val="tx1"/>
              </a:solidFill>
            </a:endParaRPr>
          </a:p>
          <a:p>
            <a:r>
              <a:rPr lang="zh-CN" altLang="en-US">
                <a:solidFill>
                  <a:schemeClr val="tx1"/>
                </a:solidFill>
              </a:rPr>
              <a:t>输出</a:t>
            </a:r>
            <a:r>
              <a:rPr lang="en-US" altLang="zh-CN">
                <a:solidFill>
                  <a:schemeClr val="tx1"/>
                </a:solidFill>
              </a:rPr>
              <a:t> </a:t>
            </a:r>
            <a:r>
              <a:rPr lang="zh-CN" altLang="en-US">
                <a:solidFill>
                  <a:schemeClr val="tx1"/>
                </a:solidFill>
              </a:rPr>
              <a:t>预测均值</a:t>
            </a:r>
            <a:r>
              <a:rPr lang="en-US" altLang="zh-CN">
                <a:solidFill>
                  <a:schemeClr val="tx1"/>
                </a:solidFill>
              </a:rPr>
              <a:t> + </a:t>
            </a:r>
            <a:r>
              <a:rPr lang="zh-CN" altLang="en-US">
                <a:solidFill>
                  <a:schemeClr val="tx1"/>
                </a:solidFill>
              </a:rPr>
              <a:t>预测不确定性（方差</a:t>
            </a:r>
            <a:r>
              <a:rPr lang="en-US" altLang="zh-CN">
                <a:solidFill>
                  <a:schemeClr val="tx1"/>
                </a:solidFill>
              </a:rPr>
              <a:t>/</a:t>
            </a:r>
            <a:r>
              <a:rPr lang="zh-CN" altLang="en-US">
                <a:solidFill>
                  <a:schemeClr val="tx1"/>
                </a:solidFill>
              </a:rPr>
              <a:t>区间），与我们减小样本方差的最终目标直接相关</a:t>
            </a:r>
            <a:endParaRPr lang="zh-CN" altLang="en-US">
              <a:solidFill>
                <a:schemeClr val="tx1"/>
              </a:solidFill>
            </a:endParaRPr>
          </a:p>
        </p:txBody>
      </p:sp>
      <p:sp>
        <p:nvSpPr>
          <p:cNvPr id="5" name="文本框 4"/>
          <p:cNvSpPr txBox="1"/>
          <p:nvPr/>
        </p:nvSpPr>
        <p:spPr>
          <a:xfrm>
            <a:off x="545465" y="4895215"/>
            <a:ext cx="4267200" cy="1753235"/>
          </a:xfrm>
          <a:prstGeom prst="rect">
            <a:avLst/>
          </a:prstGeom>
          <a:noFill/>
        </p:spPr>
        <p:txBody>
          <a:bodyPr wrap="square" rtlCol="0">
            <a:spAutoFit/>
          </a:bodyPr>
          <a:p>
            <a:r>
              <a:rPr lang="zh-CN" altLang="en-US"/>
              <a:t>贝叶斯回归：认为回归问题中的参数</a:t>
            </a:r>
            <a:r>
              <a:rPr lang="en-US" altLang="zh-CN"/>
              <a:t>W</a:t>
            </a:r>
            <a:r>
              <a:rPr lang="zh-CN" altLang="en-US"/>
              <a:t>不是一个确定的值而是一组随机变量，会估计参数的平均值和基于数据计算参数的后验分布。是一种</a:t>
            </a:r>
            <a:r>
              <a:rPr lang="zh-CN" altLang="en-US">
                <a:solidFill>
                  <a:srgbClr val="FF0000"/>
                </a:solidFill>
              </a:rPr>
              <a:t>在线学习方法，有新的样本可以更新参数</a:t>
            </a:r>
            <a:r>
              <a:rPr lang="zh-CN" altLang="en-US"/>
              <a:t>，不需要重新训练整个模型</a:t>
            </a:r>
            <a:endParaRPr lang="zh-CN" altLang="en-US"/>
          </a:p>
        </p:txBody>
      </p:sp>
      <p:pic>
        <p:nvPicPr>
          <p:cNvPr id="7" name="图片 6"/>
          <p:cNvPicPr>
            <a:picLocks noChangeAspect="1"/>
          </p:cNvPicPr>
          <p:nvPr/>
        </p:nvPicPr>
        <p:blipFill>
          <a:blip r:embed="rId3"/>
          <a:srcRect l="10026" t="-23699" r="9751"/>
          <a:stretch>
            <a:fillRect/>
          </a:stretch>
        </p:blipFill>
        <p:spPr>
          <a:xfrm>
            <a:off x="4812665" y="4076700"/>
            <a:ext cx="4147185" cy="2781300"/>
          </a:xfrm>
          <a:prstGeom prst="rect">
            <a:avLst/>
          </a:prstGeom>
        </p:spPr>
      </p:pic>
      <p:pic>
        <p:nvPicPr>
          <p:cNvPr id="4" name="图片 3" descr="屏幕截图 2025-11-13 124800"/>
          <p:cNvPicPr>
            <a:picLocks noChangeAspect="1"/>
          </p:cNvPicPr>
          <p:nvPr/>
        </p:nvPicPr>
        <p:blipFill>
          <a:blip r:embed="rId4"/>
          <a:stretch>
            <a:fillRect/>
          </a:stretch>
        </p:blipFill>
        <p:spPr>
          <a:xfrm>
            <a:off x="9150985" y="4740275"/>
            <a:ext cx="2712085" cy="1908175"/>
          </a:xfrm>
          <a:prstGeom prst="rect">
            <a:avLst/>
          </a:prstGeom>
        </p:spPr>
      </p:pic>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稀疏高斯过程（</a:t>
            </a:r>
            <a:r>
              <a:rPr lang="en-US" altLang="zh-CN">
                <a:sym typeface="+mn-ea"/>
              </a:rPr>
              <a:t>SGP</a:t>
            </a:r>
            <a:r>
              <a:rPr lang="zh-CN" altLang="en-US">
                <a:sym typeface="+mn-ea"/>
              </a:rPr>
              <a:t>）</a:t>
            </a:r>
            <a:endParaRPr lang="zh-CN" altLang="en-US"/>
          </a:p>
        </p:txBody>
      </p:sp>
      <p:sp>
        <p:nvSpPr>
          <p:cNvPr id="3" name="内容占位符 2"/>
          <p:cNvSpPr>
            <a:spLocks noGrp="1"/>
          </p:cNvSpPr>
          <p:nvPr>
            <p:ph idx="1"/>
            <p:custDataLst>
              <p:tags r:id="rId2"/>
            </p:custDataLst>
          </p:nvPr>
        </p:nvSpPr>
        <p:spPr>
          <a:xfrm>
            <a:off x="608400" y="1377370"/>
            <a:ext cx="10969200" cy="4759200"/>
          </a:xfrm>
        </p:spPr>
        <p:txBody>
          <a:bodyPr/>
          <a:p>
            <a:endParaRPr lang="zh-CN" altLang="en-US"/>
          </a:p>
        </p:txBody>
      </p:sp>
      <p:pic>
        <p:nvPicPr>
          <p:cNvPr id="4" name="图片 3"/>
          <p:cNvPicPr>
            <a:picLocks noChangeAspect="1"/>
          </p:cNvPicPr>
          <p:nvPr/>
        </p:nvPicPr>
        <p:blipFill>
          <a:blip r:embed="rId3"/>
          <a:stretch>
            <a:fillRect/>
          </a:stretch>
        </p:blipFill>
        <p:spPr>
          <a:xfrm>
            <a:off x="608330" y="2183130"/>
            <a:ext cx="3684270" cy="1539240"/>
          </a:xfrm>
          <a:prstGeom prst="rect">
            <a:avLst/>
          </a:prstGeom>
        </p:spPr>
      </p:pic>
      <p:pic>
        <p:nvPicPr>
          <p:cNvPr id="5" name="图片 4"/>
          <p:cNvPicPr>
            <a:picLocks noChangeAspect="1"/>
          </p:cNvPicPr>
          <p:nvPr/>
        </p:nvPicPr>
        <p:blipFill>
          <a:blip r:embed="rId4"/>
          <a:stretch>
            <a:fillRect/>
          </a:stretch>
        </p:blipFill>
        <p:spPr>
          <a:xfrm>
            <a:off x="608965" y="3722370"/>
            <a:ext cx="3683635" cy="1644650"/>
          </a:xfrm>
          <a:prstGeom prst="rect">
            <a:avLst/>
          </a:prstGeom>
        </p:spPr>
      </p:pic>
      <p:pic>
        <p:nvPicPr>
          <p:cNvPr id="6" name="图片 5"/>
          <p:cNvPicPr>
            <a:picLocks noChangeAspect="1"/>
          </p:cNvPicPr>
          <p:nvPr/>
        </p:nvPicPr>
        <p:blipFill>
          <a:blip r:embed="rId5"/>
          <a:stretch>
            <a:fillRect/>
          </a:stretch>
        </p:blipFill>
        <p:spPr>
          <a:xfrm>
            <a:off x="608965" y="5367020"/>
            <a:ext cx="3752850" cy="1583055"/>
          </a:xfrm>
          <a:prstGeom prst="rect">
            <a:avLst/>
          </a:prstGeom>
        </p:spPr>
      </p:pic>
      <p:sp>
        <p:nvSpPr>
          <p:cNvPr id="7" name="文本框 6"/>
          <p:cNvSpPr txBox="1"/>
          <p:nvPr/>
        </p:nvSpPr>
        <p:spPr>
          <a:xfrm>
            <a:off x="4813300" y="1752600"/>
            <a:ext cx="6106795" cy="1476375"/>
          </a:xfrm>
          <a:prstGeom prst="rect">
            <a:avLst/>
          </a:prstGeom>
          <a:noFill/>
        </p:spPr>
        <p:txBody>
          <a:bodyPr wrap="square" rtlCol="0">
            <a:spAutoFit/>
          </a:bodyPr>
          <a:p>
            <a:r>
              <a:rPr lang="zh-CN" altLang="en-US"/>
              <a:t>输入输出的方式几乎贝叶斯回归一样，但无需手动设置函数形式，可以通过核函数和超参数智能调整，更适用于非线性程度高的数据</a:t>
            </a:r>
            <a:endParaRPr lang="zh-CN" altLang="en-US"/>
          </a:p>
          <a:p>
            <a:endParaRPr lang="zh-CN" altLang="en-US"/>
          </a:p>
          <a:p>
            <a:r>
              <a:rPr lang="zh-CN" altLang="en-US"/>
              <a:t>直接计算函数形状的不确定性，模型复杂度更高</a:t>
            </a:r>
            <a:endParaRPr lang="zh-CN" altLang="en-US"/>
          </a:p>
        </p:txBody>
      </p:sp>
      <p:pic>
        <p:nvPicPr>
          <p:cNvPr id="8" name="图片 7"/>
          <p:cNvPicPr>
            <a:picLocks noChangeAspect="1"/>
          </p:cNvPicPr>
          <p:nvPr/>
        </p:nvPicPr>
        <p:blipFill>
          <a:blip r:embed="rId6"/>
          <a:stretch>
            <a:fillRect/>
          </a:stretch>
        </p:blipFill>
        <p:spPr>
          <a:xfrm>
            <a:off x="4361815" y="3886200"/>
            <a:ext cx="7988300" cy="1480820"/>
          </a:xfrm>
          <a:prstGeom prst="rect">
            <a:avLst/>
          </a:prstGeom>
        </p:spPr>
      </p:pic>
    </p:spTree>
    <p:custDataLst>
      <p:tags r:id="rId7"/>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 name="表格 33"/>
          <p:cNvGraphicFramePr/>
          <p:nvPr>
            <p:custDataLst>
              <p:tags r:id="rId1"/>
            </p:custDataLst>
          </p:nvPr>
        </p:nvGraphicFramePr>
        <p:xfrm>
          <a:off x="457835" y="323215"/>
          <a:ext cx="11239500" cy="6348095"/>
        </p:xfrm>
        <a:graphic>
          <a:graphicData uri="http://schemas.openxmlformats.org/drawingml/2006/table">
            <a:tbl>
              <a:tblPr firstRow="1" lastRow="1" bandRow="1">
                <a:tableStyleId>{33F75F28-A237-46B6-A18A-C575CD5713CB}</a:tableStyleId>
              </a:tblPr>
              <a:tblGrid>
                <a:gridCol w="2809875"/>
                <a:gridCol w="2809875"/>
                <a:gridCol w="2809875"/>
                <a:gridCol w="2809875"/>
              </a:tblGrid>
              <a:tr h="416560">
                <a:tc>
                  <a:txBody>
                    <a:bodyPr/>
                    <a:p>
                      <a:r>
                        <a:rPr lang="zh-CN" altLang="en-US" sz="1400"/>
                        <a:t>对比项</a:t>
                      </a:r>
                      <a:endParaRPr lang="zh-CN" altLang="en-US" sz="1400"/>
                    </a:p>
                  </a:txBody>
                  <a:tcPr marL="0" marR="0" marT="0" marB="0" anchor="ctr" anchorCtr="0"/>
                </a:tc>
                <a:tc>
                  <a:txBody>
                    <a:bodyPr/>
                    <a:p>
                      <a:r>
                        <a:rPr lang="zh-CN" altLang="en-US" sz="1400"/>
                        <a:t>线性回归 </a:t>
                      </a:r>
                      <a:r>
                        <a:rPr lang="en-US" altLang="zh-CN" sz="1400"/>
                        <a:t>(LR)</a:t>
                      </a:r>
                      <a:endParaRPr lang="en-US" altLang="zh-CN" sz="1400"/>
                    </a:p>
                  </a:txBody>
                  <a:tcPr marL="0" marR="0" marT="0" marB="0" anchor="ctr" anchorCtr="0"/>
                </a:tc>
                <a:tc>
                  <a:txBody>
                    <a:bodyPr/>
                    <a:p>
                      <a:r>
                        <a:rPr lang="zh-CN" altLang="en-US" sz="1400"/>
                        <a:t>贝叶斯回归 </a:t>
                      </a:r>
                      <a:r>
                        <a:rPr lang="en-US" altLang="zh-CN" sz="1400"/>
                        <a:t>(BR)</a:t>
                      </a:r>
                      <a:endParaRPr lang="en-US" altLang="zh-CN" sz="1400"/>
                    </a:p>
                  </a:txBody>
                  <a:tcPr marL="0" marR="0" marT="0" marB="0" anchor="ctr" anchorCtr="0"/>
                </a:tc>
                <a:tc>
                  <a:txBody>
                    <a:bodyPr/>
                    <a:p>
                      <a:r>
                        <a:rPr lang="zh-CN" altLang="en-US" sz="1400"/>
                        <a:t>高斯过程回归 </a:t>
                      </a:r>
                      <a:r>
                        <a:rPr lang="en-US" altLang="zh-CN" sz="1400"/>
                        <a:t>(GPR)</a:t>
                      </a:r>
                      <a:endParaRPr lang="en-US" altLang="zh-CN" sz="1400"/>
                    </a:p>
                  </a:txBody>
                  <a:tcPr marL="0" marR="0" marT="0" marB="0" anchor="ctr" anchorCtr="0"/>
                </a:tc>
              </a:tr>
              <a:tr h="430530">
                <a:tc>
                  <a:txBody>
                    <a:bodyPr/>
                    <a:p>
                      <a:r>
                        <a:rPr lang="zh-CN" altLang="en-US" sz="1400"/>
                        <a:t>建模思路</a:t>
                      </a:r>
                      <a:endParaRPr lang="zh-CN" altLang="en-US" sz="1400"/>
                    </a:p>
                  </a:txBody>
                  <a:tcPr marL="0" marR="0" marT="0" marB="0" anchor="ctr" anchorCtr="0"/>
                </a:tc>
                <a:tc>
                  <a:txBody>
                    <a:bodyPr/>
                    <a:p>
                      <a:r>
                        <a:rPr lang="zh-CN" altLang="en-US" sz="1400"/>
                        <a:t>找到一个“最优”参数，使损失最小</a:t>
                      </a:r>
                      <a:endParaRPr lang="zh-CN" altLang="en-US" sz="1400"/>
                    </a:p>
                  </a:txBody>
                  <a:tcPr marL="0" marR="0" marT="0" marB="0" anchor="ctr" anchorCtr="0"/>
                </a:tc>
                <a:tc>
                  <a:txBody>
                    <a:bodyPr/>
                    <a:p>
                      <a:r>
                        <a:rPr lang="zh-CN" altLang="en-US" sz="1400"/>
                        <a:t>参数不是一个数，而是一个概率分布</a:t>
                      </a:r>
                      <a:endParaRPr lang="zh-CN" altLang="en-US" sz="1400"/>
                    </a:p>
                  </a:txBody>
                  <a:tcPr marL="0" marR="0" marT="0" marB="0" anchor="ctr" anchorCtr="0"/>
                </a:tc>
                <a:tc>
                  <a:txBody>
                    <a:bodyPr/>
                    <a:p>
                      <a:r>
                        <a:rPr lang="zh-CN" altLang="en-US" sz="1400"/>
                        <a:t>函数本身是一个概率分布（对函数做贝叶斯）</a:t>
                      </a:r>
                      <a:endParaRPr lang="zh-CN" altLang="en-US" sz="1400"/>
                    </a:p>
                  </a:txBody>
                  <a:tcPr marL="0" marR="0" marT="0" marB="0" anchor="ctr" anchorCtr="0"/>
                </a:tc>
              </a:tr>
              <a:tr h="431165">
                <a:tc>
                  <a:txBody>
                    <a:bodyPr/>
                    <a:p>
                      <a:r>
                        <a:rPr lang="zh-CN" altLang="en-US" sz="1400"/>
                        <a:t>是否需要指定函数形式？</a:t>
                      </a:r>
                      <a:endParaRPr lang="zh-CN" altLang="en-US" sz="1400"/>
                    </a:p>
                  </a:txBody>
                  <a:tcPr marL="0" marR="0" marT="0" marB="0" anchor="ctr" anchorCtr="0"/>
                </a:tc>
                <a:tc>
                  <a:txBody>
                    <a:bodyPr/>
                    <a:p>
                      <a:r>
                        <a:rPr lang="zh-CN" altLang="en-US" sz="1400"/>
                        <a:t>必须指定（通常线性）</a:t>
                      </a:r>
                      <a:endParaRPr lang="zh-CN" altLang="en-US" sz="1400"/>
                    </a:p>
                  </a:txBody>
                  <a:tcPr marL="0" marR="0" marT="0" marB="0" anchor="ctr" anchorCtr="0"/>
                </a:tc>
                <a:tc>
                  <a:txBody>
                    <a:bodyPr/>
                    <a:p>
                      <a:r>
                        <a:rPr lang="zh-CN" altLang="en-US" sz="1400"/>
                        <a:t>必须指定（线性、多项式、</a:t>
                      </a:r>
                      <a:r>
                        <a:rPr lang="en-US" altLang="zh-CN" sz="1400"/>
                        <a:t>NN </a:t>
                      </a:r>
                      <a:r>
                        <a:rPr lang="zh-CN" altLang="en-US" sz="1400"/>
                        <a:t>都可以）</a:t>
                      </a:r>
                      <a:endParaRPr lang="zh-CN" altLang="en-US" sz="1400"/>
                    </a:p>
                  </a:txBody>
                  <a:tcPr marL="0" marR="0" marT="0" marB="0" anchor="ctr" anchorCtr="0"/>
                </a:tc>
                <a:tc>
                  <a:txBody>
                    <a:bodyPr/>
                    <a:p>
                      <a:r>
                        <a:rPr lang="zh-CN" altLang="en-US" sz="1400"/>
                        <a:t>不需要指定形式，只需选 </a:t>
                      </a:r>
                      <a:r>
                        <a:rPr lang="en-US" altLang="zh-CN" sz="1400"/>
                        <a:t>kernel</a:t>
                      </a:r>
                      <a:r>
                        <a:rPr lang="zh-CN" altLang="en-US" sz="1400"/>
                        <a:t>（核）</a:t>
                      </a:r>
                      <a:endParaRPr lang="zh-CN" altLang="en-US" sz="1400"/>
                    </a:p>
                  </a:txBody>
                  <a:tcPr marL="0" marR="0" marT="0" marB="0" anchor="ctr" anchorCtr="0"/>
                </a:tc>
              </a:tr>
              <a:tr h="431165">
                <a:tc>
                  <a:txBody>
                    <a:bodyPr/>
                    <a:p>
                      <a:r>
                        <a:rPr lang="zh-CN" altLang="en-US" sz="1400">
                          <a:solidFill>
                            <a:srgbClr val="FF0000"/>
                          </a:solidFill>
                        </a:rPr>
                        <a:t>非线性能力</a:t>
                      </a:r>
                      <a:endParaRPr lang="zh-CN" altLang="en-US" sz="1400">
                        <a:solidFill>
                          <a:srgbClr val="FF0000"/>
                        </a:solidFill>
                      </a:endParaRPr>
                    </a:p>
                  </a:txBody>
                  <a:tcPr marL="0" marR="0" marT="0" marB="0" anchor="ctr" anchorCtr="0"/>
                </a:tc>
                <a:tc>
                  <a:txBody>
                    <a:bodyPr/>
                    <a:p>
                      <a:r>
                        <a:rPr lang="zh-CN" altLang="en-US" sz="1400"/>
                        <a:t>很弱，只能线性（除非人工加特征）</a:t>
                      </a:r>
                      <a:endParaRPr lang="zh-CN" altLang="en-US" sz="1400"/>
                    </a:p>
                  </a:txBody>
                  <a:tcPr marL="0" marR="0" marT="0" marB="0" anchor="ctr" anchorCtr="0"/>
                </a:tc>
                <a:tc>
                  <a:txBody>
                    <a:bodyPr/>
                    <a:p>
                      <a:r>
                        <a:rPr lang="zh-CN" altLang="en-US" sz="1400"/>
                        <a:t>取决于你提供的非线性特征</a:t>
                      </a:r>
                      <a:endParaRPr lang="zh-CN" altLang="en-US" sz="1400"/>
                    </a:p>
                  </a:txBody>
                  <a:tcPr marL="0" marR="0" marT="0" marB="0" anchor="ctr" anchorCtr="0"/>
                </a:tc>
                <a:tc>
                  <a:txBody>
                    <a:bodyPr/>
                    <a:p>
                      <a:r>
                        <a:rPr lang="zh-CN" altLang="en-US" sz="1400"/>
                        <a:t>非常强，通过核函数隐式表示无限维特征</a:t>
                      </a:r>
                      <a:endParaRPr lang="zh-CN" altLang="en-US" sz="1400"/>
                    </a:p>
                  </a:txBody>
                  <a:tcPr marL="0" marR="0" marT="0" marB="0" anchor="ctr" anchorCtr="0"/>
                </a:tc>
              </a:tr>
              <a:tr h="431165">
                <a:tc>
                  <a:txBody>
                    <a:bodyPr/>
                    <a:p>
                      <a:r>
                        <a:rPr lang="zh-CN" altLang="en-US" sz="1400">
                          <a:solidFill>
                            <a:srgbClr val="FF0000"/>
                          </a:solidFill>
                        </a:rPr>
                        <a:t>不确定性输出</a:t>
                      </a:r>
                      <a:endParaRPr lang="zh-CN" altLang="en-US" sz="1400">
                        <a:solidFill>
                          <a:srgbClr val="FF0000"/>
                        </a:solidFill>
                      </a:endParaRPr>
                    </a:p>
                  </a:txBody>
                  <a:tcPr marL="0" marR="0" marT="0" marB="0" anchor="ctr" anchorCtr="0"/>
                </a:tc>
                <a:tc>
                  <a:txBody>
                    <a:bodyPr/>
                    <a:p>
                      <a:r>
                        <a:rPr lang="en-US" altLang="zh-CN" sz="1400"/>
                        <a:t>❌ </a:t>
                      </a:r>
                      <a:r>
                        <a:rPr lang="zh-CN" altLang="en-US" sz="1400"/>
                        <a:t>没有</a:t>
                      </a:r>
                      <a:endParaRPr lang="zh-CN" altLang="en-US" sz="1400"/>
                    </a:p>
                  </a:txBody>
                  <a:tcPr marL="0" marR="0" marT="0" marB="0" anchor="ctr" anchorCtr="0"/>
                </a:tc>
                <a:tc>
                  <a:txBody>
                    <a:bodyPr/>
                    <a:p>
                      <a:r>
                        <a:rPr lang="en-US" altLang="zh-CN" sz="1400"/>
                        <a:t>✔ </a:t>
                      </a:r>
                      <a:r>
                        <a:rPr lang="zh-CN" altLang="en-US" sz="1400"/>
                        <a:t>有（来源于参数不确定性）</a:t>
                      </a:r>
                      <a:endParaRPr lang="zh-CN" altLang="en-US" sz="1400"/>
                    </a:p>
                  </a:txBody>
                  <a:tcPr marL="0" marR="0" marT="0" marB="0" anchor="ctr" anchorCtr="0"/>
                </a:tc>
                <a:tc>
                  <a:txBody>
                    <a:bodyPr/>
                    <a:p>
                      <a:r>
                        <a:rPr lang="en-US" altLang="zh-CN" sz="1400"/>
                        <a:t>✔✔ </a:t>
                      </a:r>
                      <a:r>
                        <a:rPr lang="zh-CN" altLang="en-US" sz="1400"/>
                        <a:t>非常强（来源于函数不确定性）</a:t>
                      </a:r>
                      <a:endParaRPr lang="zh-CN" altLang="en-US" sz="1400"/>
                    </a:p>
                  </a:txBody>
                  <a:tcPr marL="0" marR="0" marT="0" marB="0" anchor="ctr" anchorCtr="0"/>
                </a:tc>
              </a:tr>
              <a:tr h="416560">
                <a:tc>
                  <a:txBody>
                    <a:bodyPr/>
                    <a:p>
                      <a:r>
                        <a:rPr lang="zh-CN" altLang="en-US" sz="1400">
                          <a:solidFill>
                            <a:srgbClr val="FF0000"/>
                          </a:solidFill>
                        </a:rPr>
                        <a:t>预测输出</a:t>
                      </a:r>
                      <a:endParaRPr lang="zh-CN" altLang="en-US" sz="1400">
                        <a:solidFill>
                          <a:srgbClr val="FF0000"/>
                        </a:solidFill>
                      </a:endParaRPr>
                    </a:p>
                  </a:txBody>
                  <a:tcPr marL="0" marR="0" marT="0" marB="0" anchor="ctr" anchorCtr="0"/>
                </a:tc>
                <a:tc>
                  <a:txBody>
                    <a:bodyPr/>
                    <a:p>
                      <a:r>
                        <a:rPr lang="zh-CN" altLang="en-US" sz="1400"/>
                        <a:t>单一预测值</a:t>
                      </a:r>
                      <a:endParaRPr lang="zh-CN" altLang="en-US" sz="1400"/>
                    </a:p>
                  </a:txBody>
                  <a:tcPr marL="0" marR="0" marT="0" marB="0" anchor="ctr" anchorCtr="0"/>
                </a:tc>
                <a:tc>
                  <a:txBody>
                    <a:bodyPr/>
                    <a:p>
                      <a:r>
                        <a:rPr lang="zh-CN" altLang="en-US" sz="1400"/>
                        <a:t>预测均值 </a:t>
                      </a:r>
                      <a:r>
                        <a:rPr lang="en-US" altLang="zh-CN" sz="1400"/>
                        <a:t>+ </a:t>
                      </a:r>
                      <a:r>
                        <a:rPr lang="zh-CN" altLang="en-US" sz="1400"/>
                        <a:t>预测方差（置信区间）</a:t>
                      </a:r>
                      <a:endParaRPr lang="zh-CN" altLang="en-US" sz="1400"/>
                    </a:p>
                  </a:txBody>
                  <a:tcPr marL="0" marR="0" marT="0" marB="0" anchor="ctr" anchorCtr="0"/>
                </a:tc>
                <a:tc>
                  <a:txBody>
                    <a:bodyPr/>
                    <a:p>
                      <a:r>
                        <a:rPr lang="zh-CN" altLang="en-US" sz="1400"/>
                        <a:t>预测均值 </a:t>
                      </a:r>
                      <a:r>
                        <a:rPr lang="en-US" altLang="zh-CN" sz="1400"/>
                        <a:t>+ </a:t>
                      </a:r>
                      <a:r>
                        <a:rPr lang="zh-CN" altLang="en-US" sz="1400"/>
                        <a:t>预测方差（随 </a:t>
                      </a:r>
                      <a:r>
                        <a:rPr lang="en-US" altLang="zh-CN" sz="1400"/>
                        <a:t>x </a:t>
                      </a:r>
                      <a:r>
                        <a:rPr lang="zh-CN" altLang="en-US" sz="1400"/>
                        <a:t>改变）</a:t>
                      </a:r>
                      <a:endParaRPr lang="zh-CN" altLang="en-US" sz="1400"/>
                    </a:p>
                  </a:txBody>
                  <a:tcPr marL="0" marR="0" marT="0" marB="0" anchor="ctr" anchorCtr="0"/>
                </a:tc>
              </a:tr>
              <a:tr h="415925">
                <a:tc>
                  <a:txBody>
                    <a:bodyPr/>
                    <a:p>
                      <a:r>
                        <a:rPr lang="zh-CN" altLang="en-US" sz="1400"/>
                        <a:t>贝叶斯思想体现？</a:t>
                      </a:r>
                      <a:endParaRPr lang="zh-CN" altLang="en-US" sz="1400"/>
                    </a:p>
                  </a:txBody>
                  <a:tcPr marL="0" marR="0" marT="0" marB="0" anchor="ctr" anchorCtr="0"/>
                </a:tc>
                <a:tc>
                  <a:txBody>
                    <a:bodyPr/>
                    <a:p>
                      <a:r>
                        <a:rPr lang="zh-CN" altLang="en-US" sz="1400"/>
                        <a:t>无</a:t>
                      </a:r>
                      <a:endParaRPr lang="zh-CN" altLang="en-US" sz="1400"/>
                    </a:p>
                  </a:txBody>
                  <a:tcPr marL="0" marR="0" marT="0" marB="0" anchor="ctr" anchorCtr="0"/>
                </a:tc>
                <a:tc>
                  <a:txBody>
                    <a:bodyPr/>
                    <a:p>
                      <a:r>
                        <a:rPr lang="zh-CN" altLang="en-US" sz="1400"/>
                        <a:t>对</a:t>
                      </a:r>
                      <a:r>
                        <a:rPr lang="zh-CN" altLang="en-US" sz="1400">
                          <a:solidFill>
                            <a:srgbClr val="FF0000"/>
                          </a:solidFill>
                        </a:rPr>
                        <a:t>参数</a:t>
                      </a:r>
                      <a:r>
                        <a:rPr lang="zh-CN" altLang="en-US" sz="1400"/>
                        <a:t>做贝叶斯更新</a:t>
                      </a:r>
                      <a:endParaRPr lang="zh-CN" altLang="en-US" sz="1400"/>
                    </a:p>
                  </a:txBody>
                  <a:tcPr marL="0" marR="0" marT="0" marB="0" anchor="ctr" anchorCtr="0"/>
                </a:tc>
                <a:tc>
                  <a:txBody>
                    <a:bodyPr/>
                    <a:p>
                      <a:r>
                        <a:rPr lang="zh-CN" altLang="en-US" sz="1400"/>
                        <a:t>对</a:t>
                      </a:r>
                      <a:r>
                        <a:rPr lang="zh-CN" altLang="en-US" sz="1400">
                          <a:solidFill>
                            <a:srgbClr val="FF0000"/>
                          </a:solidFill>
                        </a:rPr>
                        <a:t>函数</a:t>
                      </a:r>
                      <a:r>
                        <a:rPr lang="zh-CN" altLang="en-US" sz="1400"/>
                        <a:t>进行贝叶斯推断</a:t>
                      </a:r>
                      <a:endParaRPr lang="zh-CN" altLang="en-US" sz="1400"/>
                    </a:p>
                  </a:txBody>
                  <a:tcPr marL="0" marR="0" marT="0" marB="0" anchor="ctr" anchorCtr="0"/>
                </a:tc>
              </a:tr>
              <a:tr h="416560">
                <a:tc>
                  <a:txBody>
                    <a:bodyPr/>
                    <a:p>
                      <a:r>
                        <a:rPr lang="zh-CN" altLang="en-US" sz="1400">
                          <a:solidFill>
                            <a:srgbClr val="FF0000"/>
                          </a:solidFill>
                        </a:rPr>
                        <a:t>模型复杂度</a:t>
                      </a:r>
                      <a:endParaRPr lang="zh-CN" altLang="en-US" sz="1400">
                        <a:solidFill>
                          <a:srgbClr val="FF0000"/>
                        </a:solidFill>
                      </a:endParaRPr>
                    </a:p>
                  </a:txBody>
                  <a:tcPr marL="0" marR="0" marT="0" marB="0" anchor="ctr" anchorCtr="0"/>
                </a:tc>
                <a:tc>
                  <a:txBody>
                    <a:bodyPr/>
                    <a:p>
                      <a:r>
                        <a:rPr lang="zh-CN" altLang="en-US" sz="1400"/>
                        <a:t>很低</a:t>
                      </a:r>
                      <a:endParaRPr lang="zh-CN" altLang="en-US" sz="1400"/>
                    </a:p>
                  </a:txBody>
                  <a:tcPr marL="0" marR="0" marT="0" marB="0" anchor="ctr" anchorCtr="0"/>
                </a:tc>
                <a:tc>
                  <a:txBody>
                    <a:bodyPr/>
                    <a:p>
                      <a:r>
                        <a:rPr lang="zh-CN" altLang="en-US" sz="1400"/>
                        <a:t>略高</a:t>
                      </a:r>
                      <a:endParaRPr lang="zh-CN" altLang="en-US" sz="1400"/>
                    </a:p>
                  </a:txBody>
                  <a:tcPr marL="0" marR="0" marT="0" marB="0" anchor="ctr" anchorCtr="0"/>
                </a:tc>
                <a:tc>
                  <a:txBody>
                    <a:bodyPr/>
                    <a:p>
                      <a:r>
                        <a:rPr lang="zh-CN" altLang="en-US" sz="1400"/>
                        <a:t>最高（</a:t>
                      </a:r>
                      <a:r>
                        <a:rPr lang="en-US" altLang="zh-CN" sz="1400"/>
                        <a:t>N³</a:t>
                      </a:r>
                      <a:r>
                        <a:rPr lang="zh-CN" altLang="en-US" sz="1400"/>
                        <a:t>，需稀疏技术降维）</a:t>
                      </a:r>
                      <a:endParaRPr lang="zh-CN" altLang="en-US" sz="1400"/>
                    </a:p>
                  </a:txBody>
                  <a:tcPr marL="0" marR="0" marT="0" marB="0" anchor="ctr" anchorCtr="0"/>
                </a:tc>
              </a:tr>
              <a:tr h="431165">
                <a:tc>
                  <a:txBody>
                    <a:bodyPr/>
                    <a:p>
                      <a:r>
                        <a:rPr lang="zh-CN" altLang="en-US" sz="1400">
                          <a:solidFill>
                            <a:srgbClr val="FF0000"/>
                          </a:solidFill>
                        </a:rPr>
                        <a:t>可解释性</a:t>
                      </a:r>
                      <a:endParaRPr lang="zh-CN" altLang="en-US" sz="1400">
                        <a:solidFill>
                          <a:srgbClr val="FF0000"/>
                        </a:solidFill>
                      </a:endParaRPr>
                    </a:p>
                  </a:txBody>
                  <a:tcPr marL="0" marR="0" marT="0" marB="0" anchor="ctr" anchorCtr="0"/>
                </a:tc>
                <a:tc>
                  <a:txBody>
                    <a:bodyPr/>
                    <a:p>
                      <a:r>
                        <a:rPr lang="zh-CN" altLang="en-US" sz="1400"/>
                        <a:t>很强</a:t>
                      </a:r>
                      <a:endParaRPr lang="zh-CN" altLang="en-US" sz="1400"/>
                    </a:p>
                  </a:txBody>
                  <a:tcPr marL="0" marR="0" marT="0" marB="0" anchor="ctr" anchorCtr="0"/>
                </a:tc>
                <a:tc>
                  <a:txBody>
                    <a:bodyPr/>
                    <a:p>
                      <a:r>
                        <a:rPr lang="zh-CN" altLang="en-US" sz="1400"/>
                        <a:t>很强（参数有分布，更透明）</a:t>
                      </a:r>
                      <a:endParaRPr lang="zh-CN" altLang="en-US" sz="1400"/>
                    </a:p>
                  </a:txBody>
                  <a:tcPr marL="0" marR="0" marT="0" marB="0" anchor="ctr" anchorCtr="0"/>
                </a:tc>
                <a:tc>
                  <a:txBody>
                    <a:bodyPr/>
                    <a:p>
                      <a:r>
                        <a:rPr lang="zh-CN" altLang="en-US" sz="1400"/>
                        <a:t>较弱（核函数难解释，但能看相关度）</a:t>
                      </a:r>
                      <a:endParaRPr lang="zh-CN" altLang="en-US" sz="1400"/>
                    </a:p>
                  </a:txBody>
                  <a:tcPr marL="0" marR="0" marT="0" marB="0" anchor="ctr" anchorCtr="0"/>
                </a:tc>
              </a:tr>
              <a:tr h="415925">
                <a:tc>
                  <a:txBody>
                    <a:bodyPr/>
                    <a:p>
                      <a:r>
                        <a:rPr lang="zh-CN" altLang="en-US" sz="1400"/>
                        <a:t>参数数量</a:t>
                      </a:r>
                      <a:endParaRPr lang="zh-CN" altLang="en-US" sz="1400"/>
                    </a:p>
                  </a:txBody>
                  <a:tcPr marL="0" marR="0" marT="0" marB="0" anchor="ctr" anchorCtr="0"/>
                </a:tc>
                <a:tc>
                  <a:txBody>
                    <a:bodyPr/>
                    <a:p>
                      <a:r>
                        <a:rPr lang="zh-CN" altLang="en-US" sz="1400"/>
                        <a:t>有限、少</a:t>
                      </a:r>
                      <a:endParaRPr lang="zh-CN" altLang="en-US" sz="1400"/>
                    </a:p>
                  </a:txBody>
                  <a:tcPr marL="0" marR="0" marT="0" marB="0" anchor="ctr" anchorCtr="0"/>
                </a:tc>
                <a:tc>
                  <a:txBody>
                    <a:bodyPr/>
                    <a:p>
                      <a:r>
                        <a:rPr lang="zh-CN" altLang="en-US" sz="1400"/>
                        <a:t>有限（但每个参数是分布）</a:t>
                      </a:r>
                      <a:endParaRPr lang="zh-CN" altLang="en-US" sz="1400"/>
                    </a:p>
                  </a:txBody>
                  <a:tcPr marL="0" marR="0" marT="0" marB="0" anchor="ctr" anchorCtr="0"/>
                </a:tc>
                <a:tc>
                  <a:txBody>
                    <a:bodyPr/>
                    <a:p>
                      <a:r>
                        <a:rPr lang="zh-CN" altLang="en-US" sz="1400"/>
                        <a:t>无限维（通过核技巧实现）</a:t>
                      </a:r>
                      <a:endParaRPr lang="zh-CN" altLang="en-US" sz="1400"/>
                    </a:p>
                  </a:txBody>
                  <a:tcPr marL="0" marR="0" marT="0" marB="0" anchor="ctr" anchorCtr="0"/>
                </a:tc>
              </a:tr>
              <a:tr h="431165">
                <a:tc>
                  <a:txBody>
                    <a:bodyPr/>
                    <a:p>
                      <a:r>
                        <a:rPr lang="zh-CN" altLang="en-US" sz="1400"/>
                        <a:t>适用数据量</a:t>
                      </a:r>
                      <a:endParaRPr lang="zh-CN" altLang="en-US" sz="1400"/>
                    </a:p>
                  </a:txBody>
                  <a:tcPr marL="0" marR="0" marT="0" marB="0" anchor="ctr" anchorCtr="0"/>
                </a:tc>
                <a:tc>
                  <a:txBody>
                    <a:bodyPr/>
                    <a:p>
                      <a:r>
                        <a:rPr lang="zh-CN" altLang="en-US" sz="1400"/>
                        <a:t>小到大都可</a:t>
                      </a:r>
                      <a:endParaRPr lang="zh-CN" altLang="en-US" sz="1400"/>
                    </a:p>
                  </a:txBody>
                  <a:tcPr marL="0" marR="0" marT="0" marB="0" anchor="ctr" anchorCtr="0"/>
                </a:tc>
                <a:tc>
                  <a:txBody>
                    <a:bodyPr/>
                    <a:p>
                      <a:r>
                        <a:rPr lang="zh-CN" altLang="en-US" sz="1400"/>
                        <a:t>小到中（太大计算也会重）</a:t>
                      </a:r>
                      <a:endParaRPr lang="zh-CN" altLang="en-US" sz="1400"/>
                    </a:p>
                  </a:txBody>
                  <a:tcPr marL="0" marR="0" marT="0" marB="0" anchor="ctr" anchorCtr="0"/>
                </a:tc>
                <a:tc>
                  <a:txBody>
                    <a:bodyPr/>
                    <a:p>
                      <a:r>
                        <a:rPr lang="zh-CN" altLang="en-US" sz="1400"/>
                        <a:t>小样本或中等规模（大数据需 </a:t>
                      </a:r>
                      <a:r>
                        <a:rPr lang="en-US" altLang="zh-CN" sz="1400"/>
                        <a:t>Sparse GP</a:t>
                      </a:r>
                      <a:r>
                        <a:rPr lang="zh-CN" altLang="en-US" sz="1400"/>
                        <a:t>）</a:t>
                      </a:r>
                      <a:endParaRPr lang="zh-CN" altLang="en-US" sz="1400"/>
                    </a:p>
                  </a:txBody>
                  <a:tcPr marL="0" marR="0" marT="0" marB="0" anchor="ctr" anchorCtr="0"/>
                </a:tc>
              </a:tr>
              <a:tr h="416560">
                <a:tc>
                  <a:txBody>
                    <a:bodyPr/>
                    <a:p>
                      <a:r>
                        <a:rPr lang="zh-CN" altLang="en-US" sz="1400"/>
                        <a:t>对噪声的处理</a:t>
                      </a:r>
                      <a:endParaRPr lang="zh-CN" altLang="en-US" sz="1400"/>
                    </a:p>
                  </a:txBody>
                  <a:tcPr marL="0" marR="0" marT="0" marB="0" anchor="ctr" anchorCtr="0"/>
                </a:tc>
                <a:tc>
                  <a:txBody>
                    <a:bodyPr/>
                    <a:p>
                      <a:r>
                        <a:rPr lang="zh-CN" altLang="en-US" sz="1400"/>
                        <a:t>假设噪声固定、已知</a:t>
                      </a:r>
                      <a:endParaRPr lang="zh-CN" altLang="en-US" sz="1400"/>
                    </a:p>
                  </a:txBody>
                  <a:tcPr marL="0" marR="0" marT="0" marB="0" anchor="ctr" anchorCtr="0"/>
                </a:tc>
                <a:tc>
                  <a:txBody>
                    <a:bodyPr/>
                    <a:p>
                      <a:r>
                        <a:rPr lang="zh-CN" altLang="en-US" sz="1400"/>
                        <a:t>噪声方差也是概率分布</a:t>
                      </a:r>
                      <a:endParaRPr lang="zh-CN" altLang="en-US" sz="1400"/>
                    </a:p>
                  </a:txBody>
                  <a:tcPr marL="0" marR="0" marT="0" marB="0" anchor="ctr" anchorCtr="0"/>
                </a:tc>
                <a:tc>
                  <a:txBody>
                    <a:bodyPr/>
                    <a:p>
                      <a:r>
                        <a:rPr lang="zh-CN" altLang="en-US" sz="1400"/>
                        <a:t>自动推断噪声与函数的平滑度</a:t>
                      </a:r>
                      <a:endParaRPr lang="zh-CN" altLang="en-US" sz="1400"/>
                    </a:p>
                  </a:txBody>
                  <a:tcPr marL="0" marR="0" marT="0" marB="0" anchor="ctr" anchorCtr="0"/>
                </a:tc>
              </a:tr>
              <a:tr h="416560">
                <a:tc>
                  <a:txBody>
                    <a:bodyPr/>
                    <a:p>
                      <a:r>
                        <a:rPr lang="zh-CN" altLang="en-US" sz="1400"/>
                        <a:t>如何拟合</a:t>
                      </a:r>
                      <a:endParaRPr lang="zh-CN" altLang="en-US" sz="1400"/>
                    </a:p>
                  </a:txBody>
                  <a:tcPr marL="0" marR="0" marT="0" marB="0" anchor="ctr" anchorCtr="0"/>
                </a:tc>
                <a:tc>
                  <a:txBody>
                    <a:bodyPr/>
                    <a:p>
                      <a:r>
                        <a:rPr lang="zh-CN" altLang="en-US" sz="1400"/>
                        <a:t>最小二乘（</a:t>
                      </a:r>
                      <a:r>
                        <a:rPr lang="en-US" altLang="zh-CN" sz="1400"/>
                        <a:t>MLE</a:t>
                      </a:r>
                      <a:r>
                        <a:rPr lang="zh-CN" altLang="en-US" sz="1400"/>
                        <a:t>）</a:t>
                      </a:r>
                      <a:endParaRPr lang="zh-CN" altLang="en-US" sz="1400"/>
                    </a:p>
                  </a:txBody>
                  <a:tcPr marL="0" marR="0" marT="0" marB="0" anchor="ctr" anchorCtr="0"/>
                </a:tc>
                <a:tc>
                  <a:txBody>
                    <a:bodyPr/>
                    <a:p>
                      <a:r>
                        <a:rPr lang="zh-CN" altLang="en-US" sz="1400"/>
                        <a:t>贝叶斯推断（参数后验）</a:t>
                      </a:r>
                      <a:endParaRPr lang="zh-CN" altLang="en-US" sz="1400"/>
                    </a:p>
                  </a:txBody>
                  <a:tcPr marL="0" marR="0" marT="0" marB="0" anchor="ctr" anchorCtr="0"/>
                </a:tc>
                <a:tc>
                  <a:txBody>
                    <a:bodyPr/>
                    <a:p>
                      <a:r>
                        <a:rPr lang="en-US" altLang="zh-CN" sz="1400"/>
                        <a:t>GP </a:t>
                      </a:r>
                      <a:r>
                        <a:rPr lang="zh-CN" altLang="en-US" sz="1400"/>
                        <a:t>后验（联合高斯）</a:t>
                      </a:r>
                      <a:endParaRPr lang="zh-CN" altLang="en-US" sz="1400"/>
                    </a:p>
                  </a:txBody>
                  <a:tcPr marL="0" marR="0" marT="0" marB="0" anchor="ctr" anchorCtr="0"/>
                </a:tc>
              </a:tr>
              <a:tr h="430530">
                <a:tc>
                  <a:txBody>
                    <a:bodyPr/>
                    <a:p>
                      <a:r>
                        <a:rPr lang="zh-CN" altLang="en-US" sz="1400"/>
                        <a:t>适合任务类型</a:t>
                      </a:r>
                      <a:endParaRPr lang="zh-CN" altLang="en-US" sz="1400"/>
                    </a:p>
                  </a:txBody>
                  <a:tcPr marL="0" marR="0" marT="0" marB="0" anchor="ctr" anchorCtr="0"/>
                </a:tc>
                <a:tc>
                  <a:txBody>
                    <a:bodyPr/>
                    <a:p>
                      <a:r>
                        <a:rPr lang="zh-CN" altLang="en-US" sz="1400"/>
                        <a:t>简单关系</a:t>
                      </a:r>
                      <a:endParaRPr lang="zh-CN" altLang="en-US" sz="1400"/>
                    </a:p>
                  </a:txBody>
                  <a:tcPr marL="0" marR="0" marT="0" marB="0" anchor="ctr" anchorCtr="0"/>
                </a:tc>
                <a:tc>
                  <a:txBody>
                    <a:bodyPr/>
                    <a:p>
                      <a:r>
                        <a:rPr lang="zh-CN" altLang="en-US" sz="1400"/>
                        <a:t>中等复杂度、但希望有不确定性</a:t>
                      </a:r>
                      <a:endParaRPr lang="zh-CN" altLang="en-US" sz="1400"/>
                    </a:p>
                  </a:txBody>
                  <a:tcPr marL="0" marR="0" marT="0" marB="0" anchor="ctr" anchorCtr="0"/>
                </a:tc>
                <a:tc>
                  <a:txBody>
                    <a:bodyPr/>
                    <a:p>
                      <a:r>
                        <a:rPr lang="zh-CN" altLang="en-US" sz="1400"/>
                        <a:t>小样本、高非线性、有不确定性需求</a:t>
                      </a:r>
                      <a:endParaRPr lang="zh-CN" altLang="en-US" sz="1400"/>
                    </a:p>
                  </a:txBody>
                  <a:tcPr marL="0" marR="0" marT="0" marB="0" anchor="ctr" anchorCtr="0"/>
                </a:tc>
              </a:tr>
              <a:tr h="416560">
                <a:tc>
                  <a:txBody>
                    <a:bodyPr/>
                    <a:p>
                      <a:r>
                        <a:rPr lang="zh-CN" altLang="en-US" sz="1400"/>
                        <a:t>典型图像</a:t>
                      </a:r>
                      <a:endParaRPr lang="zh-CN" altLang="en-US" sz="1400"/>
                    </a:p>
                  </a:txBody>
                  <a:tcPr marL="0" marR="0" marT="0" marB="0" anchor="ctr" anchorCtr="0"/>
                </a:tc>
                <a:tc>
                  <a:txBody>
                    <a:bodyPr/>
                    <a:p>
                      <a:r>
                        <a:rPr lang="zh-CN" altLang="en-US" sz="1400"/>
                        <a:t>一条最佳直线</a:t>
                      </a:r>
                      <a:endParaRPr lang="zh-CN" altLang="en-US" sz="1400"/>
                    </a:p>
                  </a:txBody>
                  <a:tcPr marL="0" marR="0" marT="0" marB="0" anchor="ctr" anchorCtr="0"/>
                </a:tc>
                <a:tc>
                  <a:txBody>
                    <a:bodyPr/>
                    <a:p>
                      <a:r>
                        <a:rPr lang="zh-CN" altLang="en-US" sz="1400"/>
                        <a:t>一簇直线 </a:t>
                      </a:r>
                      <a:r>
                        <a:rPr lang="en-US" altLang="zh-CN" sz="1400"/>
                        <a:t>+ </a:t>
                      </a:r>
                      <a:r>
                        <a:rPr lang="zh-CN" altLang="en-US" sz="1400"/>
                        <a:t>不确定区域</a:t>
                      </a:r>
                      <a:endParaRPr lang="zh-CN" altLang="en-US" sz="1400"/>
                    </a:p>
                  </a:txBody>
                  <a:tcPr marL="0" marR="0" marT="0" marB="0" anchor="ctr" anchorCtr="0"/>
                </a:tc>
                <a:tc>
                  <a:txBody>
                    <a:bodyPr/>
                    <a:p>
                      <a:r>
                        <a:rPr lang="zh-CN" altLang="en-US" sz="1400"/>
                        <a:t>一簇光滑曲线 </a:t>
                      </a:r>
                      <a:r>
                        <a:rPr lang="en-US" altLang="zh-CN" sz="1400"/>
                        <a:t>+ </a:t>
                      </a:r>
                      <a:r>
                        <a:rPr lang="zh-CN" altLang="en-US" sz="1400"/>
                        <a:t>阴影带</a:t>
                      </a:r>
                      <a:endParaRPr lang="zh-CN" altLang="en-US" sz="1400"/>
                    </a:p>
                  </a:txBody>
                  <a:tcPr marL="0" marR="0" marT="0" marB="0" anchor="ctr" anchorCtr="0"/>
                </a:tc>
              </a:tr>
            </a:tbl>
          </a:graphicData>
        </a:graphic>
      </p:graphicFrame>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287655" y="411480"/>
            <a:ext cx="4424680" cy="6378575"/>
          </a:xfrm>
          <a:prstGeom prst="rect">
            <a:avLst/>
          </a:prstGeom>
        </p:spPr>
      </p:pic>
      <p:sp>
        <p:nvSpPr>
          <p:cNvPr id="5" name="文本框 4"/>
          <p:cNvSpPr txBox="1"/>
          <p:nvPr/>
        </p:nvSpPr>
        <p:spPr>
          <a:xfrm>
            <a:off x="4780915" y="118745"/>
            <a:ext cx="6009005" cy="6323965"/>
          </a:xfrm>
          <a:prstGeom prst="rect">
            <a:avLst/>
          </a:prstGeom>
          <a:noFill/>
        </p:spPr>
        <p:txBody>
          <a:bodyPr wrap="square" rtlCol="0">
            <a:spAutoFit/>
          </a:bodyPr>
          <a:p>
            <a:pPr>
              <a:lnSpc>
                <a:spcPct val="150000"/>
              </a:lnSpc>
            </a:pPr>
            <a:r>
              <a:rPr lang="zh-CN" altLang="en-US"/>
              <a:t>目标是</a:t>
            </a:r>
            <a:r>
              <a:rPr lang="en-US" altLang="zh-CN"/>
              <a:t> “</a:t>
            </a:r>
            <a:r>
              <a:rPr lang="zh-CN" altLang="en-US"/>
              <a:t>性能好且方差小</a:t>
            </a:r>
            <a:r>
              <a:rPr lang="en-US" altLang="zh-CN"/>
              <a:t>”​ </a:t>
            </a:r>
            <a:r>
              <a:rPr lang="zh-CN" altLang="en-US"/>
              <a:t>，这对应了两种优化策略：</a:t>
            </a:r>
            <a:endParaRPr lang="zh-CN" altLang="en-US"/>
          </a:p>
          <a:p>
            <a:pPr>
              <a:lnSpc>
                <a:spcPct val="150000"/>
              </a:lnSpc>
            </a:pPr>
            <a:r>
              <a:rPr lang="zh-CN" altLang="en-US">
                <a:solidFill>
                  <a:srgbClr val="FF0000"/>
                </a:solidFill>
              </a:rPr>
              <a:t>信噪比（</a:t>
            </a:r>
            <a:r>
              <a:rPr lang="en-US" altLang="zh-CN">
                <a:solidFill>
                  <a:srgbClr val="FF0000"/>
                </a:solidFill>
              </a:rPr>
              <a:t>Signal-to-Noise Ratio</a:t>
            </a:r>
            <a:r>
              <a:rPr lang="zh-CN" altLang="en-US">
                <a:solidFill>
                  <a:srgbClr val="FF0000"/>
                </a:solidFill>
              </a:rPr>
              <a:t>，</a:t>
            </a:r>
            <a:r>
              <a:rPr lang="en-US" altLang="zh-CN">
                <a:solidFill>
                  <a:srgbClr val="FF0000"/>
                </a:solidFill>
              </a:rPr>
              <a:t> SN Ratio</a:t>
            </a:r>
            <a:r>
              <a:rPr lang="zh-CN" altLang="en-US">
                <a:solidFill>
                  <a:srgbClr val="FF0000"/>
                </a:solidFill>
              </a:rPr>
              <a:t>）最大化</a:t>
            </a:r>
            <a:r>
              <a:rPr lang="zh-CN" altLang="en-US"/>
              <a:t>：</a:t>
            </a:r>
            <a:endParaRPr lang="zh-CN" altLang="en-US"/>
          </a:p>
          <a:p>
            <a:pPr>
              <a:lnSpc>
                <a:spcPct val="150000"/>
              </a:lnSpc>
            </a:pPr>
            <a:r>
              <a:rPr lang="zh-CN" altLang="en-US"/>
              <a:t>这是田口方法的核心思想，</a:t>
            </a:r>
            <a:r>
              <a:rPr lang="zh-CN" altLang="en-US" i="1"/>
              <a:t>专门用于解决</a:t>
            </a:r>
            <a:r>
              <a:rPr lang="en-US" altLang="zh-CN" i="1"/>
              <a:t>“</a:t>
            </a:r>
            <a:r>
              <a:rPr lang="zh-CN" altLang="en-US" i="1"/>
              <a:t>方差最小化</a:t>
            </a:r>
            <a:r>
              <a:rPr lang="en-US" altLang="zh-CN" i="1"/>
              <a:t>”</a:t>
            </a:r>
            <a:r>
              <a:rPr lang="zh-CN" altLang="en-US" i="1"/>
              <a:t>问题。它不是直接优化输出值本身，而是优化信噪比。</a:t>
            </a:r>
            <a:r>
              <a:rPr lang="zh-CN" altLang="en-US"/>
              <a:t>信噪比越高，代表输出值越稳定，受噪声因素（您未控制或难以控制的因素）影响越小。</a:t>
            </a:r>
            <a:endParaRPr lang="zh-CN" altLang="en-US"/>
          </a:p>
          <a:p>
            <a:pPr>
              <a:lnSpc>
                <a:spcPct val="150000"/>
              </a:lnSpc>
            </a:pPr>
            <a:r>
              <a:rPr lang="zh-CN" altLang="en-US"/>
              <a:t>在您的优化目标中，可以将</a:t>
            </a:r>
            <a:r>
              <a:rPr lang="en-US" altLang="zh-CN"/>
              <a:t>“</a:t>
            </a:r>
            <a:r>
              <a:rPr lang="zh-CN" altLang="en-US"/>
              <a:t>扯离强度</a:t>
            </a:r>
            <a:r>
              <a:rPr lang="en-US" altLang="zh-CN"/>
              <a:t>”</a:t>
            </a:r>
            <a:r>
              <a:rPr lang="zh-CN" altLang="en-US"/>
              <a:t>作为</a:t>
            </a:r>
            <a:r>
              <a:rPr lang="en-US" altLang="zh-CN"/>
              <a:t>“</a:t>
            </a:r>
            <a:r>
              <a:rPr lang="zh-CN" altLang="en-US"/>
              <a:t>信号</a:t>
            </a:r>
            <a:r>
              <a:rPr lang="en-US" altLang="zh-CN"/>
              <a:t>”</a:t>
            </a:r>
            <a:r>
              <a:rPr lang="zh-CN" altLang="en-US"/>
              <a:t>，将其波动（方差）作为</a:t>
            </a:r>
            <a:r>
              <a:rPr lang="en-US" altLang="zh-CN"/>
              <a:t>“</a:t>
            </a:r>
            <a:r>
              <a:rPr lang="zh-CN" altLang="en-US"/>
              <a:t>噪声</a:t>
            </a:r>
            <a:r>
              <a:rPr lang="en-US" altLang="zh-CN"/>
              <a:t>”</a:t>
            </a:r>
            <a:r>
              <a:rPr lang="zh-CN" altLang="en-US"/>
              <a:t>。优化算法会寻找使信噪比最大的输入参数组合。</a:t>
            </a:r>
            <a:endParaRPr lang="zh-CN" altLang="en-US"/>
          </a:p>
          <a:p>
            <a:pPr>
              <a:lnSpc>
                <a:spcPct val="150000"/>
              </a:lnSpc>
            </a:pPr>
            <a:r>
              <a:rPr lang="zh-CN" altLang="en-US">
                <a:solidFill>
                  <a:srgbClr val="FF0000"/>
                </a:solidFill>
              </a:rPr>
              <a:t>贝叶斯优化（</a:t>
            </a:r>
            <a:r>
              <a:rPr lang="en-US" altLang="zh-CN">
                <a:solidFill>
                  <a:srgbClr val="FF0000"/>
                </a:solidFill>
              </a:rPr>
              <a:t>Bayesian Optimization</a:t>
            </a:r>
            <a:r>
              <a:rPr lang="zh-CN" altLang="en-US">
                <a:solidFill>
                  <a:srgbClr val="FF0000"/>
                </a:solidFill>
              </a:rPr>
              <a:t>）</a:t>
            </a:r>
            <a:r>
              <a:rPr lang="zh-CN" altLang="en-US"/>
              <a:t>：</a:t>
            </a:r>
            <a:endParaRPr lang="zh-CN" altLang="en-US"/>
          </a:p>
          <a:p>
            <a:pPr>
              <a:lnSpc>
                <a:spcPct val="150000"/>
              </a:lnSpc>
            </a:pPr>
            <a:r>
              <a:rPr lang="zh-CN" altLang="en-US"/>
              <a:t>这是更现代、更强大的方法。它可以</a:t>
            </a:r>
            <a:r>
              <a:rPr lang="zh-CN" altLang="en-US" i="1"/>
              <a:t>直接将均值和方差共同作为优化目标。</a:t>
            </a:r>
            <a:endParaRPr lang="zh-CN" altLang="en-US" i="1"/>
          </a:p>
          <a:p>
            <a:pPr>
              <a:lnSpc>
                <a:spcPct val="150000"/>
              </a:lnSpc>
            </a:pPr>
            <a:r>
              <a:rPr lang="zh-CN" altLang="en-US"/>
              <a:t>可以定义一个</a:t>
            </a:r>
            <a:r>
              <a:rPr lang="en-US" altLang="zh-CN"/>
              <a:t>“</a:t>
            </a:r>
            <a:r>
              <a:rPr lang="zh-CN" altLang="en-US"/>
              <a:t>获取函数</a:t>
            </a:r>
            <a:r>
              <a:rPr lang="en-US" altLang="zh-CN"/>
              <a:t>”</a:t>
            </a:r>
            <a:r>
              <a:rPr lang="zh-CN" altLang="en-US"/>
              <a:t>，该函数倾向于选择那些预测均值高（性能好）且预测方差小（不确定性低）</a:t>
            </a:r>
            <a:r>
              <a:rPr lang="en-US" altLang="zh-CN"/>
              <a:t>​ </a:t>
            </a:r>
            <a:r>
              <a:rPr lang="zh-CN" altLang="en-US"/>
              <a:t>的区域。常用的获取函数如期望改进</a:t>
            </a:r>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TABLE_EMPHASIZE_COL" val="4"/>
  <p:tag name="TABLE_EMPHASIZE_COL_ID" val="5"/>
  <p:tag name="KSO_WM_UNIT_TABLE_BEAUTIFY" val="smartTable{74988efd-d944-4142-9e14-bb412ed918f0}"/>
  <p:tag name="TABLE_ENDDRAG_ORIGIN_RECT" val="698*321"/>
  <p:tag name="TABLE_ENDDRAG_RECT" val="67*147*698*321"/>
</p:tagLst>
</file>

<file path=ppt/tags/tag69.xml><?xml version="1.0" encoding="utf-8"?>
<p:tagLst xmlns:p="http://schemas.openxmlformats.org/presentationml/2006/main">
  <p:tag name="KSO_WM_BEAUTIFY_FLAG" val="#wm#"/>
  <p:tag name="KSO_WM_TEMPLATE_CATEGORY" val="custom"/>
  <p:tag name="KSO_WM_TEMPLATE_INDEX" val="20205081"/>
  <p:tag name="resource_record_key" val="{&quot;29&quot;:[50053212],&quot;65&quot;:[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TABLE_ENDDRAG_ORIGIN_RECT" val="884*499"/>
  <p:tag name="TABLE_ENDDRAG_RECT" val="36*25*885*499"/>
</p:tagLst>
</file>

<file path=ppt/tags/tag88.xml><?xml version="1.0" encoding="utf-8"?>
<p:tagLst xmlns:p="http://schemas.openxmlformats.org/presentationml/2006/main">
  <p:tag name="KSO_WM_BEAUTIFY_FLAG" val="#wm#"/>
  <p:tag name="KSO_WM_TEMPLATE_CATEGORY" val="custom"/>
  <p:tag name="KSO_WM_TEMPLATE_INDEX" val="20205081"/>
  <p:tag name="resource_record_key" val="{&quot;29&quot;:[50000200],&quot;65&quot;:[20205081]}"/>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resource_record_key" val="{&quot;29&quot;:[50000200,50053212],&quot;65&quot;:[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2635</Words>
  <Application>WPS 演示</Application>
  <PresentationFormat>宽屏</PresentationFormat>
  <Paragraphs>195</Paragraphs>
  <Slides>11</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Wingdings</vt:lpstr>
      <vt:lpstr>微软雅黑</vt:lpstr>
      <vt:lpstr>Arial Unicode MS</vt:lpstr>
      <vt:lpstr>Calibri</vt:lpstr>
      <vt:lpstr>WPS</vt:lpstr>
      <vt:lpstr>42汇报</vt:lpstr>
      <vt:lpstr>关于对最终强度影响因素的调研</vt:lpstr>
      <vt:lpstr>PowerPoint 演示文稿</vt:lpstr>
      <vt:lpstr>PowerPoint 演示文稿</vt:lpstr>
      <vt:lpstr>PowerPoint 演示文稿</vt:lpstr>
      <vt:lpstr>考虑到胶在固化前会有一段等待时间</vt:lpstr>
      <vt:lpstr>LASSO 回归   支持向量回归（SVR）+ 核函数（处理非线性关系）     </vt:lpstr>
      <vt:lpstr>稀疏贝叶斯回归（SBL）</vt:lpstr>
      <vt:lpstr>稀疏高斯过程（SGP）</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坏人i</cp:lastModifiedBy>
  <cp:revision>161</cp:revision>
  <dcterms:created xsi:type="dcterms:W3CDTF">2019-06-19T02:08:00Z</dcterms:created>
  <dcterms:modified xsi:type="dcterms:W3CDTF">2025-11-14T06:17:40Z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459687E57A454074A01B7D1D8597449E_11</vt:lpwstr>
  </property>
</Properties>
</file>