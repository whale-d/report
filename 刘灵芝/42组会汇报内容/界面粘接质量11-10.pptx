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7" r:id="rId4"/>
    <p:sldId id="259" r:id="rId5"/>
    <p:sldId id="261" r:id="rId6"/>
    <p:sldId id="16765981" r:id="rId7"/>
    <p:sldId id="16765982" r:id="rId8"/>
    <p:sldId id="16765983" r:id="rId9"/>
    <p:sldId id="16765984" r:id="rId10"/>
    <p:sldId id="1674" r:id="rId11"/>
    <p:sldId id="260" r:id="rId12"/>
    <p:sldId id="1676598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012" autoAdjust="0"/>
  </p:normalViewPr>
  <p:slideViewPr>
    <p:cSldViewPr snapToGrid="0">
      <p:cViewPr varScale="1">
        <p:scale>
          <a:sx n="66" d="100"/>
          <a:sy n="66" d="100"/>
        </p:scale>
        <p:origin x="10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2AC87B-F708-4848-BF27-7649217B8BC3}" type="datetimeFigureOut">
              <a:rPr lang="zh-CN" altLang="en-US" smtClean="0"/>
              <a:t>2025/11/9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E1A08A-C407-4E17-BB16-6A5078E74DE8}" type="slidenum">
              <a:rPr lang="zh-CN" altLang="en-US" smtClean="0"/>
              <a:t>‹#›</a:t>
            </a:fld>
            <a:endParaRPr lang="zh-CN" altLang="en-US"/>
          </a:p>
        </p:txBody>
      </p:sp>
    </p:spTree>
    <p:extLst>
      <p:ext uri="{BB962C8B-B14F-4D97-AF65-F5344CB8AC3E}">
        <p14:creationId xmlns:p14="http://schemas.microsoft.com/office/powerpoint/2010/main" val="3706588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E1A08A-C407-4E17-BB16-6A5078E74DE8}" type="slidenum">
              <a:rPr lang="zh-CN" altLang="en-US" smtClean="0"/>
              <a:t>1</a:t>
            </a:fld>
            <a:endParaRPr lang="zh-CN" altLang="en-US"/>
          </a:p>
        </p:txBody>
      </p:sp>
    </p:spTree>
    <p:extLst>
      <p:ext uri="{BB962C8B-B14F-4D97-AF65-F5344CB8AC3E}">
        <p14:creationId xmlns:p14="http://schemas.microsoft.com/office/powerpoint/2010/main" val="390335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0.0453</a:t>
            </a:r>
            <a:r>
              <a:rPr lang="zh-CN" altLang="en-US" sz="1200" b="0" i="0" kern="1200" dirty="0">
                <a:solidFill>
                  <a:schemeClr val="tx1"/>
                </a:solidFill>
                <a:effectLst/>
                <a:latin typeface="+mn-lt"/>
                <a:ea typeface="+mn-ea"/>
                <a:cs typeface="+mn-cs"/>
              </a:rPr>
              <a:t>和 </a:t>
            </a:r>
            <a:r>
              <a:rPr lang="en-US" altLang="zh-CN" sz="1200" b="1" i="0" kern="1200" dirty="0">
                <a:solidFill>
                  <a:schemeClr val="tx1"/>
                </a:solidFill>
                <a:effectLst/>
                <a:latin typeface="+mn-lt"/>
                <a:ea typeface="+mn-ea"/>
                <a:cs typeface="+mn-cs"/>
              </a:rPr>
              <a:t>0.0265</a:t>
            </a:r>
            <a:r>
              <a:rPr lang="zh-CN" altLang="en-US"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85E1A08A-C407-4E17-BB16-6A5078E74DE8}" type="slidenum">
              <a:rPr lang="zh-CN" altLang="en-US" smtClean="0"/>
              <a:t>11</a:t>
            </a:fld>
            <a:endParaRPr lang="zh-CN" altLang="en-US"/>
          </a:p>
        </p:txBody>
      </p:sp>
    </p:spTree>
    <p:extLst>
      <p:ext uri="{BB962C8B-B14F-4D97-AF65-F5344CB8AC3E}">
        <p14:creationId xmlns:p14="http://schemas.microsoft.com/office/powerpoint/2010/main" val="1112654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FC38B-79A7-D76B-CA3D-C5896CD624F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0C6B7FB-AB82-556F-3781-C500B7EF3B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1EBF88C-D4C6-02BC-31F2-9D7948415DCA}"/>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5" name="页脚占位符 4">
            <a:extLst>
              <a:ext uri="{FF2B5EF4-FFF2-40B4-BE49-F238E27FC236}">
                <a16:creationId xmlns:a16="http://schemas.microsoft.com/office/drawing/2014/main" id="{A5F63CE1-E628-335A-B903-57EBCFF990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F866629-82A5-D0D2-C29C-228DD799B669}"/>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3914546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719ADE-6022-4D01-7AE9-7A316D40266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77680AC-B945-2549-90BB-1FA4D2C02CB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BCAFD7-380E-5C05-CA15-621DB046AB7B}"/>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5" name="页脚占位符 4">
            <a:extLst>
              <a:ext uri="{FF2B5EF4-FFF2-40B4-BE49-F238E27FC236}">
                <a16:creationId xmlns:a16="http://schemas.microsoft.com/office/drawing/2014/main" id="{22438AEF-0D3A-6869-02A2-BEEA42819B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FDD7DB-66CC-2C05-4EAD-00BF21D1C8B1}"/>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2975149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262842-A0F3-18B1-A810-AF6745EB0B1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CABBF2B-41D0-A0BE-5ECD-1636085C04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7B8F9D6-0C84-4031-2062-344374F8E796}"/>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5" name="页脚占位符 4">
            <a:extLst>
              <a:ext uri="{FF2B5EF4-FFF2-40B4-BE49-F238E27FC236}">
                <a16:creationId xmlns:a16="http://schemas.microsoft.com/office/drawing/2014/main" id="{D1C5B0AE-BF07-FC1D-DC07-5A281DEC2F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F108F9-9419-0290-1D02-30938F12FD0C}"/>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2050123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6EE3BE-8C9E-2024-FE6F-B497E285B0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8939A4F-0922-348B-5D41-54C304951FE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A04A49F-F2A6-EC8C-34B4-A38E2530C95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1FCB632-BD88-8F18-0567-07CE3B44AFC4}"/>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6" name="页脚占位符 5">
            <a:extLst>
              <a:ext uri="{FF2B5EF4-FFF2-40B4-BE49-F238E27FC236}">
                <a16:creationId xmlns:a16="http://schemas.microsoft.com/office/drawing/2014/main" id="{C94EC27D-B2DA-C8BA-B8FE-CF67D6EAF2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8FED4C3-98BC-85F9-2789-01F817237D32}"/>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391244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194248-FADD-73B5-2F49-998650CD19B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F61AE7E-BAEC-881C-F7CA-9F7DEE6CA0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7D806B4-241E-EB81-FF3B-9853366A7E0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B7EFD63-D7C5-484B-442D-5BF3562387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B671335-842E-C43E-5E93-6CAA1A99AE4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583D775-791B-B9EE-F2E7-C793F6D9A89A}"/>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8" name="页脚占位符 7">
            <a:extLst>
              <a:ext uri="{FF2B5EF4-FFF2-40B4-BE49-F238E27FC236}">
                <a16:creationId xmlns:a16="http://schemas.microsoft.com/office/drawing/2014/main" id="{B10576FA-E6D9-7CA6-BCBD-1BEACCE2523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2FCC23D-EB0D-E546-DABF-08E972C291CF}"/>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2444493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74455C-4775-D148-139B-F08BF708629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2457285-F74E-884F-EA3C-0E7AAF5D732C}"/>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4" name="页脚占位符 3">
            <a:extLst>
              <a:ext uri="{FF2B5EF4-FFF2-40B4-BE49-F238E27FC236}">
                <a16:creationId xmlns:a16="http://schemas.microsoft.com/office/drawing/2014/main" id="{D7D8DCA8-0DC3-8541-EA5F-91D8605D90C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12D495F-F700-CA60-D105-7B76AB425B50}"/>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61812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94F2E20-F5A1-6206-F75A-8F20D6C91902}"/>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3" name="页脚占位符 2">
            <a:extLst>
              <a:ext uri="{FF2B5EF4-FFF2-40B4-BE49-F238E27FC236}">
                <a16:creationId xmlns:a16="http://schemas.microsoft.com/office/drawing/2014/main" id="{5C9D4D77-00F6-7500-93E7-F3709D1CE38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C0DAD37-38C7-9363-15F8-F882DE53B6F4}"/>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3291483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A2A76-2DC2-D5E1-2417-A1A319A4FF6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409CF72-D3C3-33C9-0D01-9089F547AC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5A1712-E4E0-63D8-3F4C-8AC354E852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500C37E-A15B-2DD9-1FA3-F8DD150780EA}"/>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6" name="页脚占位符 5">
            <a:extLst>
              <a:ext uri="{FF2B5EF4-FFF2-40B4-BE49-F238E27FC236}">
                <a16:creationId xmlns:a16="http://schemas.microsoft.com/office/drawing/2014/main" id="{3FEAC8D3-7A15-41A9-F058-3995901C2B5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5A03D61-3280-B008-6980-E47375856E4F}"/>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176058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AAC9E4-6028-49AE-74B6-8716A60FD04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D74AC4F-8CE7-70FD-124E-68706A3BD5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5D8304A-F1EB-2789-E6C8-F70A488CC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3E29A74-D396-26C6-CD9B-2C875E1CF541}"/>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6" name="页脚占位符 5">
            <a:extLst>
              <a:ext uri="{FF2B5EF4-FFF2-40B4-BE49-F238E27FC236}">
                <a16:creationId xmlns:a16="http://schemas.microsoft.com/office/drawing/2014/main" id="{FC28D184-F00C-A8A6-9409-79E1617238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A7471C7-3189-C346-578D-CE4691E49A23}"/>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3091377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019A51-90D2-4430-5BB1-176B0A4C26C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987804D-5453-A93E-7A5C-6F9A006F9CF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BE357C-B6A5-DBE3-0A3D-C69185199F77}"/>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5" name="页脚占位符 4">
            <a:extLst>
              <a:ext uri="{FF2B5EF4-FFF2-40B4-BE49-F238E27FC236}">
                <a16:creationId xmlns:a16="http://schemas.microsoft.com/office/drawing/2014/main" id="{010C0D58-B771-0B52-0944-6B4BD00518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8A2A63-6D89-6712-4829-1D9F64A29C08}"/>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1177895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56DD028-D698-1E50-2367-1C6C448079A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B64A836-18ED-9501-A9DD-0AE52AA5381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EF8CD5-FEEA-4922-E229-5DD492CCF11A}"/>
              </a:ext>
            </a:extLst>
          </p:cNvPr>
          <p:cNvSpPr>
            <a:spLocks noGrp="1"/>
          </p:cNvSpPr>
          <p:nvPr>
            <p:ph type="dt" sz="half" idx="10"/>
          </p:nvPr>
        </p:nvSpPr>
        <p:spPr/>
        <p:txBody>
          <a:bodyPr/>
          <a:lstStyle/>
          <a:p>
            <a:fld id="{13C5E231-7FAD-4F71-A5F6-0F5867DB289C}" type="datetimeFigureOut">
              <a:rPr lang="zh-CN" altLang="en-US" smtClean="0"/>
              <a:t>2025/11/9</a:t>
            </a:fld>
            <a:endParaRPr lang="zh-CN" altLang="en-US"/>
          </a:p>
        </p:txBody>
      </p:sp>
      <p:sp>
        <p:nvSpPr>
          <p:cNvPr id="5" name="页脚占位符 4">
            <a:extLst>
              <a:ext uri="{FF2B5EF4-FFF2-40B4-BE49-F238E27FC236}">
                <a16:creationId xmlns:a16="http://schemas.microsoft.com/office/drawing/2014/main" id="{5B320277-848F-6596-9EA8-B3C7730CC8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9B6763-D0BC-FF97-486B-FF8026EF0338}"/>
              </a:ext>
            </a:extLst>
          </p:cNvPr>
          <p:cNvSpPr>
            <a:spLocks noGrp="1"/>
          </p:cNvSpPr>
          <p:nvPr>
            <p:ph type="sldNum" sz="quarter" idx="12"/>
          </p:nvPr>
        </p:nvSpPr>
        <p:spPr/>
        <p:txBody>
          <a:body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2363179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37C108A-7D16-CB02-CFAE-BC560DA5AA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CCE2A6E-8BEE-2021-040F-3F253A9E12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657AA9-3FEF-71ED-2573-7E65CE1393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C5E231-7FAD-4F71-A5F6-0F5867DB289C}" type="datetimeFigureOut">
              <a:rPr lang="zh-CN" altLang="en-US" smtClean="0"/>
              <a:t>2025/11/9</a:t>
            </a:fld>
            <a:endParaRPr lang="zh-CN" altLang="en-US"/>
          </a:p>
        </p:txBody>
      </p:sp>
      <p:sp>
        <p:nvSpPr>
          <p:cNvPr id="5" name="页脚占位符 4">
            <a:extLst>
              <a:ext uri="{FF2B5EF4-FFF2-40B4-BE49-F238E27FC236}">
                <a16:creationId xmlns:a16="http://schemas.microsoft.com/office/drawing/2014/main" id="{6F10EE81-AF3A-671E-F1F1-3497C5B1A5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929B651-FB0B-9BF0-9593-30BDCB443C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2CA70-18D2-40DF-A8D2-53BE2152804B}" type="slidenum">
              <a:rPr lang="zh-CN" altLang="en-US" smtClean="0"/>
              <a:t>‹#›</a:t>
            </a:fld>
            <a:endParaRPr lang="zh-CN" altLang="en-US"/>
          </a:p>
        </p:txBody>
      </p:sp>
    </p:spTree>
    <p:extLst>
      <p:ext uri="{BB962C8B-B14F-4D97-AF65-F5344CB8AC3E}">
        <p14:creationId xmlns:p14="http://schemas.microsoft.com/office/powerpoint/2010/main" val="9209194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342706-BC15-3424-5B55-283F59D13FFB}"/>
              </a:ext>
            </a:extLst>
          </p:cNvPr>
          <p:cNvSpPr>
            <a:spLocks noGrp="1"/>
          </p:cNvSpPr>
          <p:nvPr>
            <p:ph type="ctrTitle"/>
          </p:nvPr>
        </p:nvSpPr>
        <p:spPr/>
        <p:txBody>
          <a:bodyPr/>
          <a:lstStyle/>
          <a:p>
            <a:r>
              <a:rPr lang="zh-CN" altLang="en-US" dirty="0"/>
              <a:t>界面粘接质量</a:t>
            </a:r>
          </a:p>
        </p:txBody>
      </p:sp>
      <p:sp>
        <p:nvSpPr>
          <p:cNvPr id="3" name="副标题 2">
            <a:extLst>
              <a:ext uri="{FF2B5EF4-FFF2-40B4-BE49-F238E27FC236}">
                <a16:creationId xmlns:a16="http://schemas.microsoft.com/office/drawing/2014/main" id="{2EEBD887-BE5D-89A1-29C5-38E4EAF053DB}"/>
              </a:ext>
            </a:extLst>
          </p:cNvPr>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1107458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D834A4-80AD-3B86-BDAD-222224C46E12}"/>
              </a:ext>
            </a:extLst>
          </p:cNvPr>
          <p:cNvSpPr>
            <a:spLocks noGrp="1"/>
          </p:cNvSpPr>
          <p:nvPr>
            <p:ph type="title"/>
          </p:nvPr>
        </p:nvSpPr>
        <p:spPr/>
        <p:txBody>
          <a:bodyPr/>
          <a:lstStyle/>
          <a:p>
            <a:endParaRPr lang="zh-CN" altLang="en-US" dirty="0"/>
          </a:p>
        </p:txBody>
      </p:sp>
      <p:graphicFrame>
        <p:nvGraphicFramePr>
          <p:cNvPr id="3" name="表格 2">
            <a:extLst>
              <a:ext uri="{FF2B5EF4-FFF2-40B4-BE49-F238E27FC236}">
                <a16:creationId xmlns:a16="http://schemas.microsoft.com/office/drawing/2014/main" id="{E29AA1A9-DF62-5235-FDCD-4DD02D7C673E}"/>
              </a:ext>
            </a:extLst>
          </p:cNvPr>
          <p:cNvGraphicFramePr>
            <a:graphicFrameLocks noGrp="1"/>
          </p:cNvGraphicFramePr>
          <p:nvPr>
            <p:extLst>
              <p:ext uri="{D42A27DB-BD31-4B8C-83A1-F6EECF244321}">
                <p14:modId xmlns:p14="http://schemas.microsoft.com/office/powerpoint/2010/main" val="3621600870"/>
              </p:ext>
            </p:extLst>
          </p:nvPr>
        </p:nvGraphicFramePr>
        <p:xfrm>
          <a:off x="314325" y="17063"/>
          <a:ext cx="11715750" cy="6840937"/>
        </p:xfrm>
        <a:graphic>
          <a:graphicData uri="http://schemas.openxmlformats.org/drawingml/2006/table">
            <a:tbl>
              <a:tblPr firstRow="1" firstCol="1" bandRow="1">
                <a:tableStyleId>{5C22544A-7EE6-4342-B048-85BDC9FD1C3A}</a:tableStyleId>
              </a:tblPr>
              <a:tblGrid>
                <a:gridCol w="1552575">
                  <a:extLst>
                    <a:ext uri="{9D8B030D-6E8A-4147-A177-3AD203B41FA5}">
                      <a16:colId xmlns:a16="http://schemas.microsoft.com/office/drawing/2014/main" val="3565586140"/>
                    </a:ext>
                  </a:extLst>
                </a:gridCol>
                <a:gridCol w="6629400">
                  <a:extLst>
                    <a:ext uri="{9D8B030D-6E8A-4147-A177-3AD203B41FA5}">
                      <a16:colId xmlns:a16="http://schemas.microsoft.com/office/drawing/2014/main" val="3138723134"/>
                    </a:ext>
                  </a:extLst>
                </a:gridCol>
                <a:gridCol w="3533775">
                  <a:extLst>
                    <a:ext uri="{9D8B030D-6E8A-4147-A177-3AD203B41FA5}">
                      <a16:colId xmlns:a16="http://schemas.microsoft.com/office/drawing/2014/main" val="1589812593"/>
                    </a:ext>
                  </a:extLst>
                </a:gridCol>
              </a:tblGrid>
              <a:tr h="286511">
                <a:tc>
                  <a:txBody>
                    <a:bodyPr/>
                    <a:lstStyle/>
                    <a:p>
                      <a:pPr algn="ctr">
                        <a:lnSpc>
                          <a:spcPct val="115000"/>
                        </a:lnSpc>
                        <a:spcAft>
                          <a:spcPts val="800"/>
                        </a:spcAft>
                        <a:buNone/>
                      </a:pPr>
                      <a:r>
                        <a:rPr lang="zh-CN" sz="1800" kern="100" dirty="0">
                          <a:effectLst/>
                        </a:rPr>
                        <a:t>数据</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gn="ctr">
                        <a:lnSpc>
                          <a:spcPct val="115000"/>
                        </a:lnSpc>
                        <a:spcAft>
                          <a:spcPts val="800"/>
                        </a:spcAft>
                        <a:buNone/>
                      </a:pPr>
                      <a:r>
                        <a:rPr lang="zh-CN" sz="1800" kern="100">
                          <a:effectLst/>
                        </a:rPr>
                        <a:t>所需获取数据</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gn="ctr">
                        <a:lnSpc>
                          <a:spcPct val="115000"/>
                        </a:lnSpc>
                        <a:spcAft>
                          <a:spcPts val="800"/>
                        </a:spcAft>
                        <a:buNone/>
                      </a:pPr>
                      <a:r>
                        <a:rPr lang="zh-CN" sz="1800" kern="100">
                          <a:effectLst/>
                        </a:rPr>
                        <a:t>是否可调控</a:t>
                      </a:r>
                      <a:r>
                        <a:rPr lang="en-US" sz="1800" kern="100">
                          <a:effectLst/>
                        </a:rPr>
                        <a:t>/</a:t>
                      </a:r>
                      <a:r>
                        <a:rPr lang="zh-CN" sz="1800" kern="100">
                          <a:effectLst/>
                        </a:rPr>
                        <a:t>获取</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3332454505"/>
                  </a:ext>
                </a:extLst>
              </a:tr>
              <a:tr h="286511">
                <a:tc rowSpan="4">
                  <a:txBody>
                    <a:bodyPr/>
                    <a:lstStyle/>
                    <a:p>
                      <a:pPr algn="ctr">
                        <a:lnSpc>
                          <a:spcPct val="115000"/>
                        </a:lnSpc>
                        <a:spcAft>
                          <a:spcPts val="800"/>
                        </a:spcAft>
                        <a:buNone/>
                      </a:pPr>
                      <a:r>
                        <a:rPr lang="en-US" sz="1800" kern="100" dirty="0">
                          <a:effectLst/>
                        </a:rPr>
                        <a:t> </a:t>
                      </a:r>
                      <a:endParaRPr lang="zh-CN" sz="1800" kern="100" dirty="0">
                        <a:effectLst/>
                      </a:endParaRPr>
                    </a:p>
                    <a:p>
                      <a:pPr algn="ctr">
                        <a:lnSpc>
                          <a:spcPct val="115000"/>
                        </a:lnSpc>
                        <a:spcAft>
                          <a:spcPts val="800"/>
                        </a:spcAft>
                        <a:buNone/>
                      </a:pPr>
                      <a:r>
                        <a:rPr lang="zh-CN" sz="1800" kern="100" dirty="0">
                          <a:effectLst/>
                        </a:rPr>
                        <a:t>壳体和绝缘层</a:t>
                      </a:r>
                    </a:p>
                  </a:txBody>
                  <a:tcPr marL="55215" marR="55215" marT="0" marB="0"/>
                </a:tc>
                <a:tc>
                  <a:txBody>
                    <a:bodyPr/>
                    <a:lstStyle/>
                    <a:p>
                      <a:pPr>
                        <a:lnSpc>
                          <a:spcPct val="115000"/>
                        </a:lnSpc>
                        <a:spcAft>
                          <a:spcPts val="800"/>
                        </a:spcAft>
                        <a:buNone/>
                      </a:pPr>
                      <a:r>
                        <a:rPr lang="zh-CN" sz="1800" kern="100" dirty="0">
                          <a:effectLst/>
                        </a:rPr>
                        <a:t>壳体与绝缘层粘接压力（是否可控可测）</a:t>
                      </a:r>
                      <a:r>
                        <a:rPr lang="zh-CN" altLang="en-US" sz="1800" kern="100" dirty="0">
                          <a:effectLst/>
                        </a:rPr>
                        <a:t>②</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a:effectLst/>
                        </a:rPr>
                        <a:t>可控可调可测</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3738419047"/>
                  </a:ext>
                </a:extLst>
              </a:tr>
              <a:tr h="347798">
                <a:tc vMerge="1">
                  <a:txBody>
                    <a:bodyPr/>
                    <a:lstStyle/>
                    <a:p>
                      <a:endParaRPr lang="zh-CN" altLang="en-US"/>
                    </a:p>
                  </a:txBody>
                  <a:tcPr/>
                </a:tc>
                <a:tc>
                  <a:txBody>
                    <a:bodyPr/>
                    <a:lstStyle/>
                    <a:p>
                      <a:pPr>
                        <a:lnSpc>
                          <a:spcPct val="115000"/>
                        </a:lnSpc>
                        <a:spcAft>
                          <a:spcPts val="800"/>
                        </a:spcAft>
                        <a:buNone/>
                      </a:pPr>
                      <a:r>
                        <a:rPr lang="zh-CN" sz="1800" kern="100" dirty="0">
                          <a:effectLst/>
                        </a:rPr>
                        <a:t>壳体与绝缘层之间是否需有胶</a:t>
                      </a:r>
                      <a:r>
                        <a:rPr lang="en-US" sz="1800" kern="100" dirty="0">
                          <a:effectLst/>
                        </a:rPr>
                        <a:t>,</a:t>
                      </a:r>
                      <a:r>
                        <a:rPr lang="zh-CN" sz="1800" kern="100" dirty="0">
                          <a:effectLst/>
                        </a:rPr>
                        <a:t>如有胶的粘度是否可测</a:t>
                      </a:r>
                      <a:r>
                        <a:rPr lang="zh-CN" altLang="en-US" sz="1800" kern="100" dirty="0">
                          <a:effectLst/>
                        </a:rPr>
                        <a:t>③</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a:effectLst/>
                        </a:rPr>
                        <a:t>可测</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1903129953"/>
                  </a:ext>
                </a:extLst>
              </a:tr>
              <a:tr h="286511">
                <a:tc vMerge="1">
                  <a:txBody>
                    <a:bodyPr/>
                    <a:lstStyle/>
                    <a:p>
                      <a:endParaRPr lang="zh-CN" altLang="en-US"/>
                    </a:p>
                  </a:txBody>
                  <a:tcPr/>
                </a:tc>
                <a:tc>
                  <a:txBody>
                    <a:bodyPr/>
                    <a:lstStyle/>
                    <a:p>
                      <a:pPr>
                        <a:lnSpc>
                          <a:spcPct val="115000"/>
                        </a:lnSpc>
                        <a:spcAft>
                          <a:spcPts val="800"/>
                        </a:spcAft>
                        <a:buNone/>
                      </a:pPr>
                      <a:r>
                        <a:rPr lang="zh-CN" sz="1800" kern="100" dirty="0">
                          <a:effectLst/>
                        </a:rPr>
                        <a:t>壳体与绝缘层粘接时的室内温度</a:t>
                      </a:r>
                      <a:r>
                        <a:rPr lang="zh-CN" altLang="en-US" sz="1800" kern="100" dirty="0">
                          <a:effectLst/>
                        </a:rPr>
                        <a:t>②</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a:effectLst/>
                        </a:rPr>
                        <a:t>可测</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2662080677"/>
                  </a:ext>
                </a:extLst>
              </a:tr>
              <a:tr h="347798">
                <a:tc vMerge="1">
                  <a:txBody>
                    <a:bodyPr/>
                    <a:lstStyle/>
                    <a:p>
                      <a:endParaRPr lang="zh-CN" altLang="en-US"/>
                    </a:p>
                  </a:txBody>
                  <a:tcPr/>
                </a:tc>
                <a:tc>
                  <a:txBody>
                    <a:bodyPr/>
                    <a:lstStyle/>
                    <a:p>
                      <a:pPr>
                        <a:lnSpc>
                          <a:spcPct val="115000"/>
                        </a:lnSpc>
                        <a:spcAft>
                          <a:spcPts val="800"/>
                        </a:spcAft>
                        <a:buNone/>
                      </a:pPr>
                      <a:r>
                        <a:rPr lang="zh-CN" sz="1800" kern="100" dirty="0">
                          <a:effectLst/>
                        </a:rPr>
                        <a:t>壳体与绝缘层粘接时壳体温度（预热温度是否可调控）</a:t>
                      </a:r>
                      <a:r>
                        <a:rPr lang="zh-CN" altLang="en-US" sz="1800" kern="100" dirty="0">
                          <a:effectLst/>
                        </a:rPr>
                        <a:t>②</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a:effectLst/>
                        </a:rPr>
                        <a:t>可测</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1447986078"/>
                  </a:ext>
                </a:extLst>
              </a:tr>
              <a:tr h="286511">
                <a:tc rowSpan="3">
                  <a:txBody>
                    <a:bodyPr/>
                    <a:lstStyle/>
                    <a:p>
                      <a:pPr algn="ctr">
                        <a:lnSpc>
                          <a:spcPct val="115000"/>
                        </a:lnSpc>
                        <a:spcAft>
                          <a:spcPts val="800"/>
                        </a:spcAft>
                        <a:buNone/>
                      </a:pPr>
                      <a:r>
                        <a:rPr lang="en-US" sz="1800" kern="100" dirty="0">
                          <a:effectLst/>
                        </a:rPr>
                        <a:t> </a:t>
                      </a:r>
                      <a:endParaRPr lang="zh-CN" sz="1800" kern="100" dirty="0">
                        <a:effectLst/>
                      </a:endParaRPr>
                    </a:p>
                    <a:p>
                      <a:pPr algn="ctr">
                        <a:lnSpc>
                          <a:spcPct val="115000"/>
                        </a:lnSpc>
                        <a:spcAft>
                          <a:spcPts val="800"/>
                        </a:spcAft>
                        <a:buNone/>
                      </a:pPr>
                      <a:r>
                        <a:rPr lang="zh-CN" sz="1800" kern="100" dirty="0">
                          <a:effectLst/>
                        </a:rPr>
                        <a:t>衬层（胶）</a:t>
                      </a:r>
                    </a:p>
                  </a:txBody>
                  <a:tcPr marL="55215" marR="55215" marT="0" marB="0"/>
                </a:tc>
                <a:tc>
                  <a:txBody>
                    <a:bodyPr/>
                    <a:lstStyle/>
                    <a:p>
                      <a:pPr>
                        <a:lnSpc>
                          <a:spcPct val="115000"/>
                        </a:lnSpc>
                        <a:spcAft>
                          <a:spcPts val="800"/>
                        </a:spcAft>
                        <a:buNone/>
                      </a:pPr>
                      <a:r>
                        <a:rPr lang="zh-CN" sz="1800" kern="100" dirty="0">
                          <a:effectLst/>
                        </a:rPr>
                        <a:t>在浇注前的胶层温度测量</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a:effectLst/>
                        </a:rPr>
                        <a:t>可控可调可测</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2633860205"/>
                  </a:ext>
                </a:extLst>
              </a:tr>
              <a:tr h="286511">
                <a:tc vMerge="1">
                  <a:txBody>
                    <a:bodyPr/>
                    <a:lstStyle/>
                    <a:p>
                      <a:endParaRPr lang="zh-CN" altLang="en-US"/>
                    </a:p>
                  </a:txBody>
                  <a:tcPr/>
                </a:tc>
                <a:tc>
                  <a:txBody>
                    <a:bodyPr/>
                    <a:lstStyle/>
                    <a:p>
                      <a:pPr>
                        <a:lnSpc>
                          <a:spcPct val="115000"/>
                        </a:lnSpc>
                        <a:spcAft>
                          <a:spcPts val="800"/>
                        </a:spcAft>
                        <a:buNone/>
                      </a:pPr>
                      <a:r>
                        <a:rPr lang="zh-CN" sz="1800" kern="100" dirty="0">
                          <a:solidFill>
                            <a:srgbClr val="FF0000"/>
                          </a:solidFill>
                          <a:effectLst/>
                        </a:rPr>
                        <a:t>在浇注前的胶层湿度测量</a:t>
                      </a:r>
                      <a:r>
                        <a:rPr lang="zh-CN" altLang="en-US" sz="1800" kern="100" dirty="0">
                          <a:solidFill>
                            <a:srgbClr val="FF0000"/>
                          </a:solidFill>
                          <a:effectLst/>
                        </a:rPr>
                        <a:t>（去掉）</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solidFill>
                            <a:srgbClr val="FF0000"/>
                          </a:solidFill>
                          <a:effectLst/>
                        </a:rPr>
                        <a:t>不可测</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3627981263"/>
                  </a:ext>
                </a:extLst>
              </a:tr>
              <a:tr h="286511">
                <a:tc vMerge="1">
                  <a:txBody>
                    <a:bodyPr/>
                    <a:lstStyle/>
                    <a:p>
                      <a:endParaRPr lang="zh-CN" altLang="en-US"/>
                    </a:p>
                  </a:txBody>
                  <a:tcPr/>
                </a:tc>
                <a:tc>
                  <a:txBody>
                    <a:bodyPr/>
                    <a:lstStyle/>
                    <a:p>
                      <a:pPr>
                        <a:lnSpc>
                          <a:spcPct val="115000"/>
                        </a:lnSpc>
                        <a:spcAft>
                          <a:spcPts val="800"/>
                        </a:spcAft>
                        <a:buNone/>
                      </a:pPr>
                      <a:r>
                        <a:rPr lang="zh-CN" sz="1800" kern="100" dirty="0">
                          <a:solidFill>
                            <a:srgbClr val="FF0000"/>
                          </a:solidFill>
                          <a:effectLst/>
                        </a:rPr>
                        <a:t>胶在浇注前的</a:t>
                      </a:r>
                      <a:r>
                        <a:rPr lang="zh-CN" sz="1800" kern="100" dirty="0">
                          <a:solidFill>
                            <a:srgbClr val="FF0000"/>
                          </a:solidFill>
                          <a:effectLst/>
                          <a:highlight>
                            <a:srgbClr val="FFFF00"/>
                          </a:highlight>
                        </a:rPr>
                        <a:t>粘黏度</a:t>
                      </a:r>
                      <a:r>
                        <a:rPr lang="zh-CN" sz="1800" kern="100" dirty="0">
                          <a:solidFill>
                            <a:srgbClr val="FF0000"/>
                          </a:solidFill>
                          <a:effectLst/>
                        </a:rPr>
                        <a:t>是否有传感器测得</a:t>
                      </a:r>
                      <a:r>
                        <a:rPr lang="zh-CN" altLang="en-US" sz="1800" kern="100" dirty="0">
                          <a:effectLst/>
                        </a:rPr>
                        <a:t>①</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solidFill>
                            <a:srgbClr val="FF0000"/>
                          </a:solidFill>
                          <a:effectLst/>
                        </a:rPr>
                        <a:t>无</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1510269255"/>
                  </a:ext>
                </a:extLst>
              </a:tr>
              <a:tr h="286511">
                <a:tc rowSpan="8">
                  <a:txBody>
                    <a:bodyPr/>
                    <a:lstStyle/>
                    <a:p>
                      <a:pPr>
                        <a:lnSpc>
                          <a:spcPct val="115000"/>
                        </a:lnSpc>
                        <a:spcAft>
                          <a:spcPts val="800"/>
                        </a:spcAft>
                        <a:buNone/>
                      </a:pPr>
                      <a:r>
                        <a:rPr lang="en-US" sz="1800" kern="100" dirty="0">
                          <a:effectLst/>
                        </a:rPr>
                        <a:t> </a:t>
                      </a:r>
                      <a:endParaRPr lang="zh-CN" sz="1800" kern="100" dirty="0">
                        <a:effectLst/>
                      </a:endParaRPr>
                    </a:p>
                    <a:p>
                      <a:pPr>
                        <a:lnSpc>
                          <a:spcPct val="115000"/>
                        </a:lnSpc>
                        <a:spcAft>
                          <a:spcPts val="800"/>
                        </a:spcAft>
                        <a:buNone/>
                      </a:pPr>
                      <a:r>
                        <a:rPr lang="en-US" sz="1800" kern="100" dirty="0">
                          <a:effectLst/>
                        </a:rPr>
                        <a:t> </a:t>
                      </a:r>
                    </a:p>
                    <a:p>
                      <a:pPr>
                        <a:lnSpc>
                          <a:spcPct val="115000"/>
                        </a:lnSpc>
                        <a:spcAft>
                          <a:spcPts val="800"/>
                        </a:spcAft>
                        <a:buNone/>
                      </a:pPr>
                      <a:endParaRPr lang="zh-CN" sz="1800" kern="100" dirty="0">
                        <a:effectLst/>
                      </a:endParaRPr>
                    </a:p>
                    <a:p>
                      <a:pPr algn="ctr">
                        <a:lnSpc>
                          <a:spcPct val="115000"/>
                        </a:lnSpc>
                        <a:spcAft>
                          <a:spcPts val="800"/>
                        </a:spcAft>
                        <a:buNone/>
                      </a:pPr>
                      <a:r>
                        <a:rPr lang="zh-CN" sz="1800" kern="100" dirty="0">
                          <a:effectLst/>
                        </a:rPr>
                        <a:t>浇筑（药）</a:t>
                      </a:r>
                    </a:p>
                  </a:txBody>
                  <a:tcPr marL="55215" marR="55215" marT="0" marB="0"/>
                </a:tc>
                <a:tc>
                  <a:txBody>
                    <a:bodyPr/>
                    <a:lstStyle/>
                    <a:p>
                      <a:pPr>
                        <a:lnSpc>
                          <a:spcPct val="115000"/>
                        </a:lnSpc>
                        <a:spcAft>
                          <a:spcPts val="800"/>
                        </a:spcAft>
                        <a:buNone/>
                      </a:pPr>
                      <a:r>
                        <a:rPr lang="zh-CN" sz="1800" kern="100" dirty="0">
                          <a:effectLst/>
                        </a:rPr>
                        <a:t>浇注前药的温度测量</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effectLst/>
                        </a:rPr>
                        <a:t>可控可调可测</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233793859"/>
                  </a:ext>
                </a:extLst>
              </a:tr>
              <a:tr h="286511">
                <a:tc vMerge="1">
                  <a:txBody>
                    <a:bodyPr/>
                    <a:lstStyle/>
                    <a:p>
                      <a:endParaRPr lang="zh-CN" altLang="en-US"/>
                    </a:p>
                  </a:txBody>
                  <a:tcPr/>
                </a:tc>
                <a:tc>
                  <a:txBody>
                    <a:bodyPr/>
                    <a:lstStyle/>
                    <a:p>
                      <a:pPr>
                        <a:lnSpc>
                          <a:spcPct val="115000"/>
                        </a:lnSpc>
                        <a:spcAft>
                          <a:spcPts val="800"/>
                        </a:spcAft>
                        <a:buNone/>
                      </a:pPr>
                      <a:r>
                        <a:rPr lang="zh-CN" sz="1800" kern="100" dirty="0">
                          <a:effectLst/>
                        </a:rPr>
                        <a:t>浇注前药的粘稠度测量</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effectLst/>
                        </a:rPr>
                        <a:t>可控可调可测</a:t>
                      </a:r>
                      <a:r>
                        <a:rPr lang="en-US" altLang="zh-CN" sz="1800" kern="100" dirty="0">
                          <a:effectLst/>
                        </a:rPr>
                        <a:t>.</a:t>
                      </a:r>
                      <a:r>
                        <a:rPr lang="zh-CN" altLang="en-US" sz="1800" kern="100" dirty="0">
                          <a:effectLst/>
                        </a:rPr>
                        <a: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3384817900"/>
                  </a:ext>
                </a:extLst>
              </a:tr>
              <a:tr h="347798">
                <a:tc vMerge="1">
                  <a:txBody>
                    <a:bodyPr/>
                    <a:lstStyle/>
                    <a:p>
                      <a:endParaRPr lang="zh-CN" altLang="en-US"/>
                    </a:p>
                  </a:txBody>
                  <a:tcPr/>
                </a:tc>
                <a:tc>
                  <a:txBody>
                    <a:bodyPr/>
                    <a:lstStyle/>
                    <a:p>
                      <a:pPr>
                        <a:lnSpc>
                          <a:spcPct val="115000"/>
                        </a:lnSpc>
                        <a:spcAft>
                          <a:spcPts val="800"/>
                        </a:spcAft>
                        <a:buNone/>
                      </a:pPr>
                      <a:r>
                        <a:rPr lang="zh-CN" sz="1800" kern="100" dirty="0">
                          <a:solidFill>
                            <a:srgbClr val="FF0000"/>
                          </a:solidFill>
                          <a:effectLst/>
                        </a:rPr>
                        <a:t>浇注的真空度测量</a:t>
                      </a:r>
                      <a:r>
                        <a:rPr lang="zh-CN" sz="1800" kern="0" dirty="0">
                          <a:solidFill>
                            <a:srgbClr val="FF0000"/>
                          </a:solidFill>
                          <a:effectLst/>
                        </a:rPr>
                        <a:t>（氮压）</a:t>
                      </a:r>
                      <a:r>
                        <a:rPr lang="zh-CN" sz="1800" kern="100" dirty="0">
                          <a:solidFill>
                            <a:srgbClr val="FF0000"/>
                          </a:solidFill>
                          <a:effectLst/>
                        </a:rPr>
                        <a:t>（是否可调可控）</a:t>
                      </a:r>
                      <a:r>
                        <a:rPr lang="zh-CN" altLang="en-US" sz="1800" kern="100" dirty="0">
                          <a:solidFill>
                            <a:srgbClr val="FF0000"/>
                          </a:solidFill>
                          <a:effectLst/>
                        </a:rPr>
                        <a:t>②</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solidFill>
                            <a:srgbClr val="FF0000"/>
                          </a:solidFill>
                          <a:effectLst/>
                        </a:rPr>
                        <a:t>真空度满足即可目前</a:t>
                      </a:r>
                      <a:r>
                        <a:rPr lang="zh-CN" sz="1800" kern="100" dirty="0">
                          <a:solidFill>
                            <a:srgbClr val="FF0000"/>
                          </a:solidFill>
                          <a:effectLst/>
                          <a:highlight>
                            <a:srgbClr val="FFFF00"/>
                          </a:highlight>
                        </a:rPr>
                        <a:t>不需要可调</a:t>
                      </a:r>
                      <a:endParaRPr lang="zh-CN" sz="1800" kern="100" dirty="0">
                        <a:solidFill>
                          <a:srgbClr val="FF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2381636485"/>
                  </a:ext>
                </a:extLst>
              </a:tr>
              <a:tr h="286511">
                <a:tc vMerge="1">
                  <a:txBody>
                    <a:bodyPr/>
                    <a:lstStyle/>
                    <a:p>
                      <a:endParaRPr lang="zh-CN" altLang="en-US"/>
                    </a:p>
                  </a:txBody>
                  <a:tcPr/>
                </a:tc>
                <a:tc>
                  <a:txBody>
                    <a:bodyPr/>
                    <a:lstStyle/>
                    <a:p>
                      <a:pPr>
                        <a:lnSpc>
                          <a:spcPct val="115000"/>
                        </a:lnSpc>
                        <a:spcAft>
                          <a:spcPts val="800"/>
                        </a:spcAft>
                        <a:buNone/>
                      </a:pPr>
                      <a:r>
                        <a:rPr lang="zh-CN" sz="1800" kern="100" dirty="0">
                          <a:effectLst/>
                        </a:rPr>
                        <a:t>浇注期间水浴温度测量（是否可调可控）</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effectLst/>
                        </a:rPr>
                        <a:t>可控可调可测</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4135683765"/>
                  </a:ext>
                </a:extLst>
              </a:tr>
              <a:tr h="286511">
                <a:tc vMerge="1">
                  <a:txBody>
                    <a:bodyPr/>
                    <a:lstStyle/>
                    <a:p>
                      <a:endParaRPr lang="zh-CN" altLang="en-US"/>
                    </a:p>
                  </a:txBody>
                  <a:tcPr/>
                </a:tc>
                <a:tc>
                  <a:txBody>
                    <a:bodyPr/>
                    <a:lstStyle/>
                    <a:p>
                      <a:pPr>
                        <a:lnSpc>
                          <a:spcPct val="115000"/>
                        </a:lnSpc>
                        <a:spcAft>
                          <a:spcPts val="800"/>
                        </a:spcAft>
                        <a:buNone/>
                      </a:pPr>
                      <a:r>
                        <a:rPr lang="zh-CN" sz="1800" kern="100" dirty="0">
                          <a:effectLst/>
                        </a:rPr>
                        <a:t>浇注前后重量</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effectLst/>
                        </a:rPr>
                        <a:t>可控可调可测</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4040103655"/>
                  </a:ext>
                </a:extLst>
              </a:tr>
              <a:tr h="286511">
                <a:tc vMerge="1">
                  <a:txBody>
                    <a:bodyPr/>
                    <a:lstStyle/>
                    <a:p>
                      <a:endParaRPr lang="zh-CN" altLang="en-US"/>
                    </a:p>
                  </a:txBody>
                  <a:tcPr/>
                </a:tc>
                <a:tc>
                  <a:txBody>
                    <a:bodyPr/>
                    <a:lstStyle/>
                    <a:p>
                      <a:pPr>
                        <a:lnSpc>
                          <a:spcPct val="115000"/>
                        </a:lnSpc>
                        <a:spcAft>
                          <a:spcPts val="800"/>
                        </a:spcAft>
                        <a:buNone/>
                      </a:pPr>
                      <a:r>
                        <a:rPr lang="zh-CN" sz="1800" kern="100" dirty="0">
                          <a:effectLst/>
                        </a:rPr>
                        <a:t>浇注期间下注流速测量（是否可调可控）</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effectLst/>
                        </a:rPr>
                        <a:t>可控可调可测</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3388438762"/>
                  </a:ext>
                </a:extLst>
              </a:tr>
              <a:tr h="347798">
                <a:tc vMerge="1">
                  <a:txBody>
                    <a:bodyPr/>
                    <a:lstStyle/>
                    <a:p>
                      <a:endParaRPr lang="zh-CN" altLang="en-US"/>
                    </a:p>
                  </a:txBody>
                  <a:tcPr/>
                </a:tc>
                <a:tc>
                  <a:txBody>
                    <a:bodyPr/>
                    <a:lstStyle/>
                    <a:p>
                      <a:pPr>
                        <a:lnSpc>
                          <a:spcPct val="115000"/>
                        </a:lnSpc>
                        <a:spcAft>
                          <a:spcPts val="800"/>
                        </a:spcAft>
                        <a:buNone/>
                      </a:pPr>
                      <a:r>
                        <a:rPr lang="zh-CN" sz="1800" kern="100" dirty="0">
                          <a:effectLst/>
                        </a:rPr>
                        <a:t>浇注期间系统压力和加压压力（是否可调可控）</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effectLst/>
                        </a:rPr>
                        <a:t>可控可调可测</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276986993"/>
                  </a:ext>
                </a:extLst>
              </a:tr>
              <a:tr h="286511">
                <a:tc vMerge="1">
                  <a:txBody>
                    <a:bodyPr/>
                    <a:lstStyle/>
                    <a:p>
                      <a:endParaRPr lang="zh-CN" altLang="en-US"/>
                    </a:p>
                  </a:txBody>
                  <a:tcPr/>
                </a:tc>
                <a:tc>
                  <a:txBody>
                    <a:bodyPr/>
                    <a:lstStyle/>
                    <a:p>
                      <a:pPr>
                        <a:lnSpc>
                          <a:spcPct val="115000"/>
                        </a:lnSpc>
                        <a:spcAft>
                          <a:spcPts val="800"/>
                        </a:spcAft>
                        <a:buNone/>
                      </a:pPr>
                      <a:r>
                        <a:rPr lang="zh-CN" sz="1800" kern="100" dirty="0">
                          <a:solidFill>
                            <a:srgbClr val="FF0000"/>
                          </a:solidFill>
                          <a:effectLst/>
                        </a:rPr>
                        <a:t>浇注开度</a:t>
                      </a:r>
                      <a:r>
                        <a:rPr lang="zh-CN" altLang="en-US" sz="1800" kern="100" dirty="0">
                          <a:solidFill>
                            <a:srgbClr val="FF0000"/>
                          </a:solidFill>
                          <a:effectLst/>
                        </a:rPr>
                        <a:t>②（根据明年的生产线模型）</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solidFill>
                            <a:srgbClr val="FF0000"/>
                          </a:solidFill>
                          <a:effectLst/>
                        </a:rPr>
                        <a:t>目前未测</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1903716277"/>
                  </a:ext>
                </a:extLst>
              </a:tr>
              <a:tr h="347798">
                <a:tc rowSpan="4">
                  <a:txBody>
                    <a:bodyPr/>
                    <a:lstStyle/>
                    <a:p>
                      <a:pPr>
                        <a:lnSpc>
                          <a:spcPct val="115000"/>
                        </a:lnSpc>
                        <a:spcAft>
                          <a:spcPts val="800"/>
                        </a:spcAft>
                        <a:buNone/>
                      </a:pPr>
                      <a:r>
                        <a:rPr lang="en-US" sz="1800" kern="100" dirty="0">
                          <a:effectLst/>
                        </a:rPr>
                        <a:t> </a:t>
                      </a:r>
                      <a:endParaRPr lang="zh-CN" sz="1800" kern="100" dirty="0">
                        <a:effectLst/>
                      </a:endParaRPr>
                    </a:p>
                    <a:p>
                      <a:pPr>
                        <a:lnSpc>
                          <a:spcPct val="115000"/>
                        </a:lnSpc>
                        <a:spcAft>
                          <a:spcPts val="800"/>
                        </a:spcAft>
                        <a:buNone/>
                      </a:pPr>
                      <a:r>
                        <a:rPr lang="en-US" sz="1800" kern="100" dirty="0">
                          <a:effectLst/>
                        </a:rPr>
                        <a:t> </a:t>
                      </a:r>
                      <a:endParaRPr lang="zh-CN" sz="1800" kern="100" dirty="0">
                        <a:effectLst/>
                      </a:endParaRPr>
                    </a:p>
                    <a:p>
                      <a:pPr>
                        <a:lnSpc>
                          <a:spcPct val="115000"/>
                        </a:lnSpc>
                        <a:spcAft>
                          <a:spcPts val="800"/>
                        </a:spcAft>
                        <a:buNone/>
                      </a:pPr>
                      <a:r>
                        <a:rPr lang="en-US" sz="1800" kern="100" dirty="0">
                          <a:effectLst/>
                        </a:rPr>
                        <a:t> </a:t>
                      </a:r>
                      <a:r>
                        <a:rPr lang="zh-CN" sz="1800" kern="100" dirty="0">
                          <a:effectLst/>
                        </a:rPr>
                        <a:t>固化</a:t>
                      </a:r>
                    </a:p>
                  </a:txBody>
                  <a:tcPr marL="55215" marR="55215" marT="0" marB="0"/>
                </a:tc>
                <a:tc>
                  <a:txBody>
                    <a:bodyPr/>
                    <a:lstStyle/>
                    <a:p>
                      <a:pPr>
                        <a:lnSpc>
                          <a:spcPct val="115000"/>
                        </a:lnSpc>
                        <a:spcAft>
                          <a:spcPts val="800"/>
                        </a:spcAft>
                        <a:buNone/>
                      </a:pPr>
                      <a:r>
                        <a:rPr lang="zh-CN" sz="1800" kern="100" dirty="0">
                          <a:effectLst/>
                        </a:rPr>
                        <a:t>固化期间恒定温度（是否可调整不同的固化温度进行实验）</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a:effectLst/>
                        </a:rPr>
                        <a:t>可控，可调，</a:t>
                      </a:r>
                      <a:r>
                        <a:rPr lang="en-US" sz="1800" kern="100">
                          <a:effectLst/>
                        </a:rPr>
                        <a:t>50</a:t>
                      </a:r>
                      <a:r>
                        <a:rPr lang="en-US" sz="1800" kern="100">
                          <a:effectLst/>
                          <a:sym typeface="Symbol" panose="05050102010706020507" pitchFamily="18" charset="2"/>
                        </a:rPr>
                        <a:t></a:t>
                      </a:r>
                      <a:r>
                        <a:rPr lang="en-US" sz="1800" kern="100">
                          <a:effectLst/>
                        </a:rPr>
                        <a:t>2</a:t>
                      </a:r>
                      <a:r>
                        <a:rPr lang="zh-CN" sz="1800" kern="100">
                          <a:effectLst/>
                        </a:rPr>
                        <a:t>度，</a:t>
                      </a:r>
                      <a:r>
                        <a:rPr lang="en-US" sz="1800" kern="100">
                          <a:effectLst/>
                        </a:rPr>
                        <a:t>70</a:t>
                      </a:r>
                      <a:r>
                        <a:rPr lang="en-US" sz="1800" kern="100">
                          <a:effectLst/>
                          <a:sym typeface="Symbol" panose="05050102010706020507" pitchFamily="18" charset="2"/>
                        </a:rPr>
                        <a:t></a:t>
                      </a:r>
                      <a:r>
                        <a:rPr lang="en-US" sz="1800" kern="100">
                          <a:effectLst/>
                        </a:rPr>
                        <a:t>2</a:t>
                      </a:r>
                      <a:r>
                        <a:rPr lang="zh-CN" sz="1800" kern="100">
                          <a:effectLst/>
                        </a:rPr>
                        <a:t>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182235265"/>
                  </a:ext>
                </a:extLst>
              </a:tr>
              <a:tr h="347798">
                <a:tc vMerge="1">
                  <a:txBody>
                    <a:bodyPr/>
                    <a:lstStyle/>
                    <a:p>
                      <a:endParaRPr lang="zh-CN" altLang="en-US"/>
                    </a:p>
                  </a:txBody>
                  <a:tcPr/>
                </a:tc>
                <a:tc>
                  <a:txBody>
                    <a:bodyPr/>
                    <a:lstStyle/>
                    <a:p>
                      <a:pPr>
                        <a:lnSpc>
                          <a:spcPct val="115000"/>
                        </a:lnSpc>
                        <a:spcAft>
                          <a:spcPts val="800"/>
                        </a:spcAft>
                        <a:buNone/>
                      </a:pPr>
                      <a:r>
                        <a:rPr lang="zh-CN" sz="1800" kern="100" dirty="0">
                          <a:solidFill>
                            <a:srgbClr val="FF0000"/>
                          </a:solidFill>
                          <a:effectLst/>
                        </a:rPr>
                        <a:t>固化期间恒定湿度</a:t>
                      </a:r>
                      <a:r>
                        <a:rPr lang="zh-CN" altLang="en-US" sz="1800" kern="100" dirty="0">
                          <a:solidFill>
                            <a:srgbClr val="FF0000"/>
                          </a:solidFill>
                          <a:effectLst/>
                        </a:rPr>
                        <a:t>（去掉）</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solidFill>
                            <a:srgbClr val="FF0000"/>
                          </a:solidFill>
                          <a:effectLst/>
                        </a:rPr>
                        <a:t>未测</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1481410126"/>
                  </a:ext>
                </a:extLst>
              </a:tr>
              <a:tr h="590135">
                <a:tc vMerge="1">
                  <a:txBody>
                    <a:bodyPr/>
                    <a:lstStyle/>
                    <a:p>
                      <a:endParaRPr lang="zh-CN" altLang="en-US"/>
                    </a:p>
                  </a:txBody>
                  <a:tcPr/>
                </a:tc>
                <a:tc>
                  <a:txBody>
                    <a:bodyPr/>
                    <a:lstStyle/>
                    <a:p>
                      <a:pPr>
                        <a:lnSpc>
                          <a:spcPct val="115000"/>
                        </a:lnSpc>
                        <a:spcAft>
                          <a:spcPts val="800"/>
                        </a:spcAft>
                        <a:buNone/>
                      </a:pPr>
                      <a:r>
                        <a:rPr lang="zh-CN" sz="1800" kern="100" dirty="0">
                          <a:effectLst/>
                        </a:rPr>
                        <a:t>固化时间控制</a:t>
                      </a:r>
                      <a:r>
                        <a:rPr lang="en-US" sz="1800" kern="100" dirty="0">
                          <a:effectLst/>
                        </a:rPr>
                        <a:t>,</a:t>
                      </a:r>
                      <a:r>
                        <a:rPr lang="zh-CN" sz="1800" kern="100" dirty="0">
                          <a:effectLst/>
                        </a:rPr>
                        <a:t>是否可以在原有固化时间的基础上以分钟为单位延长缩短做变量实验</a:t>
                      </a:r>
                      <a:r>
                        <a:rPr lang="zh-CN" altLang="en-US" sz="1800" kern="100" dirty="0">
                          <a:effectLst/>
                        </a:rPr>
                        <a:t>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sz="1800" kern="100" dirty="0">
                          <a:effectLst/>
                        </a:rPr>
                        <a:t>小样有监测，大样有的也有监测。一般是按天进行调整和监测</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2152332299"/>
                  </a:ext>
                </a:extLst>
              </a:tr>
              <a:tr h="568737">
                <a:tc vMerge="1">
                  <a:txBody>
                    <a:bodyPr/>
                    <a:lstStyle/>
                    <a:p>
                      <a:endParaRPr lang="zh-CN" altLang="en-US"/>
                    </a:p>
                  </a:txBody>
                  <a:tcPr/>
                </a:tc>
                <a:tc>
                  <a:txBody>
                    <a:bodyPr/>
                    <a:lstStyle/>
                    <a:p>
                      <a:pPr>
                        <a:lnSpc>
                          <a:spcPct val="115000"/>
                        </a:lnSpc>
                        <a:spcAft>
                          <a:spcPts val="800"/>
                        </a:spcAft>
                        <a:buNone/>
                      </a:pPr>
                      <a:r>
                        <a:rPr lang="zh-CN" sz="1800" kern="100" dirty="0">
                          <a:solidFill>
                            <a:srgbClr val="FF0000"/>
                          </a:solidFill>
                          <a:effectLst/>
                        </a:rPr>
                        <a:t>固化内部风速</a:t>
                      </a:r>
                      <a:r>
                        <a:rPr lang="zh-CN" altLang="en-US" sz="1800" kern="100" dirty="0">
                          <a:solidFill>
                            <a:srgbClr val="FF0000"/>
                          </a:solidFill>
                          <a:effectLst/>
                        </a:rPr>
                        <a:t>（去掉）</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tc>
                  <a:txBody>
                    <a:bodyPr/>
                    <a:lstStyle/>
                    <a:p>
                      <a:pPr>
                        <a:lnSpc>
                          <a:spcPct val="115000"/>
                        </a:lnSpc>
                        <a:spcAft>
                          <a:spcPts val="800"/>
                        </a:spcAft>
                        <a:buNone/>
                      </a:pPr>
                      <a:r>
                        <a:rPr lang="zh-CN" altLang="en-US"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未测</a:t>
                      </a:r>
                      <a:endParaRPr 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215" marR="55215" marT="0" marB="0"/>
                </a:tc>
                <a:extLst>
                  <a:ext uri="{0D108BD9-81ED-4DB2-BD59-A6C34878D82A}">
                    <a16:rowId xmlns:a16="http://schemas.microsoft.com/office/drawing/2014/main" val="1120021406"/>
                  </a:ext>
                </a:extLst>
              </a:tr>
            </a:tbl>
          </a:graphicData>
        </a:graphic>
      </p:graphicFrame>
    </p:spTree>
    <p:extLst>
      <p:ext uri="{BB962C8B-B14F-4D97-AF65-F5344CB8AC3E}">
        <p14:creationId xmlns:p14="http://schemas.microsoft.com/office/powerpoint/2010/main" val="2022964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319A8FA7-B8C2-90D4-A60D-CDE3C3906EE6}"/>
              </a:ext>
            </a:extLst>
          </p:cNvPr>
          <p:cNvSpPr/>
          <p:nvPr/>
        </p:nvSpPr>
        <p:spPr>
          <a:xfrm>
            <a:off x="904875" y="5457825"/>
            <a:ext cx="10182225" cy="838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D1FB0429-5643-7727-2E1B-5048E0BD4630}"/>
              </a:ext>
            </a:extLst>
          </p:cNvPr>
          <p:cNvSpPr>
            <a:spLocks noGrp="1"/>
          </p:cNvSpPr>
          <p:nvPr>
            <p:ph type="title"/>
          </p:nvPr>
        </p:nvSpPr>
        <p:spPr/>
        <p:txBody>
          <a:bodyPr/>
          <a:lstStyle/>
          <a:p>
            <a:r>
              <a:rPr lang="zh-CN" altLang="zh-CN" dirty="0"/>
              <a:t>界面粘接质量</a:t>
            </a:r>
            <a:r>
              <a:rPr lang="zh-CN" altLang="en-US" dirty="0"/>
              <a:t>指标及升级</a:t>
            </a:r>
          </a:p>
        </p:txBody>
      </p:sp>
      <p:sp>
        <p:nvSpPr>
          <p:cNvPr id="3" name="文本框 2">
            <a:extLst>
              <a:ext uri="{FF2B5EF4-FFF2-40B4-BE49-F238E27FC236}">
                <a16:creationId xmlns:a16="http://schemas.microsoft.com/office/drawing/2014/main" id="{DB25E5D9-B3CF-D1F0-13A9-6302EEA688F0}"/>
              </a:ext>
            </a:extLst>
          </p:cNvPr>
          <p:cNvSpPr txBox="1"/>
          <p:nvPr/>
        </p:nvSpPr>
        <p:spPr>
          <a:xfrm>
            <a:off x="838200" y="1690688"/>
            <a:ext cx="10848975" cy="2246769"/>
          </a:xfrm>
          <a:prstGeom prst="rect">
            <a:avLst/>
          </a:prstGeom>
          <a:noFill/>
        </p:spPr>
        <p:txBody>
          <a:bodyPr wrap="square" rtlCol="0">
            <a:spAutoFit/>
          </a:bodyPr>
          <a:lstStyle/>
          <a:p>
            <a:pPr marL="342900" lvl="0" indent="-342900">
              <a:buFont typeface="+mj-lt"/>
              <a:buAutoNum type="alphaUcPeriod"/>
            </a:pPr>
            <a:r>
              <a:rPr lang="zh-CN" altLang="zh-CN" sz="2000" dirty="0"/>
              <a:t>衬层</a:t>
            </a:r>
            <a:r>
              <a:rPr lang="zh-CN" altLang="zh-CN" sz="2000" b="1" dirty="0"/>
              <a:t>预固化</a:t>
            </a:r>
            <a:r>
              <a:rPr lang="zh-CN" altLang="zh-CN" sz="2000" dirty="0"/>
              <a:t>时的各种因素。</a:t>
            </a:r>
            <a:endParaRPr lang="en-US" altLang="zh-CN" sz="2000" dirty="0"/>
          </a:p>
          <a:p>
            <a:pPr lvl="1"/>
            <a:r>
              <a:rPr lang="zh-CN" altLang="zh-CN" sz="2000" dirty="0"/>
              <a:t>预固化放在烘箱中进行的，因此要考虑到烘箱的温度（可测），湿度（在烘箱内时无法测量这个数值），时间</a:t>
            </a:r>
            <a:r>
              <a:rPr lang="zh-CN" altLang="en-US" sz="2000" dirty="0"/>
              <a:t>。</a:t>
            </a:r>
            <a:endParaRPr lang="zh-CN" altLang="zh-CN" sz="2000" dirty="0"/>
          </a:p>
          <a:p>
            <a:pPr marL="342900" lvl="0" indent="-342900">
              <a:buFont typeface="+mj-lt"/>
              <a:buAutoNum type="alphaUcPeriod"/>
            </a:pPr>
            <a:r>
              <a:rPr lang="zh-CN" altLang="zh-CN" sz="2000" dirty="0"/>
              <a:t>衬层从烘箱出来之后，存放环境，包括温度、湿度、空气中粉尘或者气体之类的污染。目前衬层是用密封的方式用来隔绝污染。</a:t>
            </a:r>
            <a:r>
              <a:rPr lang="zh-CN" altLang="zh-CN" sz="2000" dirty="0">
                <a:solidFill>
                  <a:srgbClr val="FF0000"/>
                </a:solidFill>
              </a:rPr>
              <a:t>存放环境的温湿度可测，目前未测。</a:t>
            </a:r>
          </a:p>
          <a:p>
            <a:pPr marL="342900" lvl="0" indent="-342900">
              <a:buFont typeface="+mj-lt"/>
              <a:buAutoNum type="alphaUcPeriod"/>
            </a:pPr>
            <a:r>
              <a:rPr lang="zh-CN" altLang="zh-CN" sz="2000" dirty="0"/>
              <a:t>衬层的</a:t>
            </a:r>
            <a:r>
              <a:rPr lang="zh-CN" altLang="zh-CN" sz="2000" dirty="0">
                <a:solidFill>
                  <a:srgbClr val="FF0000"/>
                </a:solidFill>
              </a:rPr>
              <a:t>厚度</a:t>
            </a:r>
            <a:r>
              <a:rPr lang="zh-CN" altLang="zh-CN" sz="2000" dirty="0"/>
              <a:t>。无法直接测量，不过用量控制可以间接表征所涂抹的胶层厚度。目前未测。</a:t>
            </a:r>
          </a:p>
          <a:p>
            <a:endParaRPr lang="zh-CN" altLang="en-US" sz="2000" dirty="0"/>
          </a:p>
        </p:txBody>
      </p:sp>
      <p:sp>
        <p:nvSpPr>
          <p:cNvPr id="5" name="文本框 4">
            <a:extLst>
              <a:ext uri="{FF2B5EF4-FFF2-40B4-BE49-F238E27FC236}">
                <a16:creationId xmlns:a16="http://schemas.microsoft.com/office/drawing/2014/main" id="{B0E8F1E6-147E-38F1-5BF8-F34B2CBAA463}"/>
              </a:ext>
            </a:extLst>
          </p:cNvPr>
          <p:cNvSpPr txBox="1"/>
          <p:nvPr/>
        </p:nvSpPr>
        <p:spPr>
          <a:xfrm>
            <a:off x="838200" y="3939581"/>
            <a:ext cx="9782175" cy="1323439"/>
          </a:xfrm>
          <a:prstGeom prst="rect">
            <a:avLst/>
          </a:prstGeom>
          <a:noFill/>
        </p:spPr>
        <p:txBody>
          <a:bodyPr wrap="square">
            <a:spAutoFit/>
          </a:bodyPr>
          <a:lstStyle/>
          <a:p>
            <a:pPr marL="342900" indent="-342900">
              <a:buFont typeface="+mj-ea"/>
              <a:buAutoNum type="circleNumDbPlain"/>
            </a:pPr>
            <a:r>
              <a:rPr lang="zh-CN" altLang="en-US" sz="2000" dirty="0"/>
              <a:t>衬层预固化时，要测量烘箱的温度和预固化所持续的时间。</a:t>
            </a:r>
            <a:r>
              <a:rPr lang="zh-CN" altLang="en-US" sz="2000" dirty="0">
                <a:solidFill>
                  <a:srgbClr val="FF0000"/>
                </a:solidFill>
              </a:rPr>
              <a:t>预固化时的烘箱</a:t>
            </a:r>
            <a:r>
              <a:rPr lang="zh-CN" altLang="en-US" sz="2000" dirty="0"/>
              <a:t>需要升级。</a:t>
            </a:r>
          </a:p>
          <a:p>
            <a:pPr marL="342900" indent="-342900">
              <a:buFont typeface="+mj-ea"/>
              <a:buAutoNum type="circleNumDbPlain"/>
            </a:pPr>
            <a:r>
              <a:rPr lang="zh-CN" altLang="en-US" sz="2000" dirty="0"/>
              <a:t>衬层存放环境中的温度和湿度。需要</a:t>
            </a:r>
            <a:r>
              <a:rPr lang="zh-CN" altLang="en-US" sz="2000" dirty="0">
                <a:solidFill>
                  <a:srgbClr val="FF0000"/>
                </a:solidFill>
              </a:rPr>
              <a:t>存放场所有温湿度</a:t>
            </a:r>
            <a:r>
              <a:rPr lang="zh-CN" altLang="en-US" sz="2000" dirty="0"/>
              <a:t>和时间的自动采集装置。</a:t>
            </a:r>
          </a:p>
          <a:p>
            <a:pPr marL="342900" indent="-342900">
              <a:buFont typeface="+mj-ea"/>
              <a:buAutoNum type="circleNumDbPlain"/>
            </a:pPr>
            <a:r>
              <a:rPr lang="zh-CN" altLang="en-US" sz="2000" dirty="0"/>
              <a:t>需要测量并记录每次衬层</a:t>
            </a:r>
            <a:r>
              <a:rPr lang="zh-CN" altLang="en-US" sz="2000" dirty="0">
                <a:solidFill>
                  <a:srgbClr val="FF0000"/>
                </a:solidFill>
              </a:rPr>
              <a:t>涂抹的用量</a:t>
            </a:r>
            <a:r>
              <a:rPr lang="zh-CN" altLang="en-US" sz="2000" dirty="0"/>
              <a:t>。</a:t>
            </a:r>
          </a:p>
        </p:txBody>
      </p:sp>
    </p:spTree>
    <p:extLst>
      <p:ext uri="{BB962C8B-B14F-4D97-AF65-F5344CB8AC3E}">
        <p14:creationId xmlns:p14="http://schemas.microsoft.com/office/powerpoint/2010/main" val="2337566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B521C38-C61D-272D-D371-2497E6E7B87D}"/>
              </a:ext>
            </a:extLst>
          </p:cNvPr>
          <p:cNvPicPr>
            <a:picLocks noChangeAspect="1"/>
          </p:cNvPicPr>
          <p:nvPr/>
        </p:nvPicPr>
        <p:blipFill>
          <a:blip r:embed="rId2"/>
          <a:stretch>
            <a:fillRect/>
          </a:stretch>
        </p:blipFill>
        <p:spPr>
          <a:xfrm>
            <a:off x="2014853" y="409575"/>
            <a:ext cx="8743633" cy="2307104"/>
          </a:xfrm>
          <a:prstGeom prst="rect">
            <a:avLst/>
          </a:prstGeom>
        </p:spPr>
      </p:pic>
      <p:sp>
        <p:nvSpPr>
          <p:cNvPr id="6" name="文本框 5">
            <a:extLst>
              <a:ext uri="{FF2B5EF4-FFF2-40B4-BE49-F238E27FC236}">
                <a16:creationId xmlns:a16="http://schemas.microsoft.com/office/drawing/2014/main" id="{6F32740A-8768-F82E-C7A2-75F05992194A}"/>
              </a:ext>
            </a:extLst>
          </p:cNvPr>
          <p:cNvSpPr txBox="1"/>
          <p:nvPr/>
        </p:nvSpPr>
        <p:spPr>
          <a:xfrm>
            <a:off x="3176586" y="1705472"/>
            <a:ext cx="6096000" cy="711477"/>
          </a:xfrm>
          <a:prstGeom prst="rect">
            <a:avLst/>
          </a:prstGeom>
          <a:noFill/>
        </p:spPr>
        <p:txBody>
          <a:bodyPr wrap="square">
            <a:spAutoFit/>
          </a:bodyPr>
          <a:lstStyle/>
          <a:p>
            <a:pPr>
              <a:lnSpc>
                <a:spcPct val="115000"/>
              </a:lnSpc>
              <a:spcAft>
                <a:spcPts val="800"/>
              </a:spcAft>
              <a:buNone/>
            </a:pPr>
            <a:r>
              <a:rPr lang="zh-CN" alt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rPr>
              <a:t>把绝缘体粘到壳体上后，需要加压使得粘连牢固。因此需要气囊充气，给予绝缘体一定的压力，使得粘连牢固。</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11EA5B36-CF55-9792-63EA-D0CE17210A1B}"/>
              </a:ext>
            </a:extLst>
          </p:cNvPr>
          <p:cNvSpPr txBox="1"/>
          <p:nvPr/>
        </p:nvSpPr>
        <p:spPr>
          <a:xfrm>
            <a:off x="1095374" y="3010399"/>
            <a:ext cx="10639425" cy="1656351"/>
          </a:xfrm>
          <a:prstGeom prst="rect">
            <a:avLst/>
          </a:prstGeom>
          <a:noFill/>
        </p:spPr>
        <p:txBody>
          <a:bodyPr wrap="square">
            <a:spAutoFit/>
          </a:bodyPr>
          <a:lstStyle/>
          <a:p>
            <a:pPr>
              <a:lnSpc>
                <a:spcPct val="115000"/>
              </a:lnSpc>
              <a:spcAft>
                <a:spcPts val="800"/>
              </a:spcAft>
              <a:buNone/>
            </a:pPr>
            <a:r>
              <a:rPr lang="en-US" altLang="zh-CN" kern="100" dirty="0">
                <a:highlight>
                  <a:srgbClr val="FFFF00"/>
                </a:highlight>
                <a:latin typeface="等线" panose="02010600030101010101" pitchFamily="2" charset="-122"/>
                <a:ea typeface="等线" panose="02010600030101010101" pitchFamily="2" charset="-122"/>
                <a:cs typeface="Times New Roman" panose="02020603050405020304" pitchFamily="18" charset="0"/>
              </a:rPr>
              <a:t>2. </a:t>
            </a:r>
            <a:r>
              <a:rPr lang="zh-CN" altLang="zh-CN" sz="1800" kern="100" dirty="0">
                <a:effectLst/>
                <a:highlight>
                  <a:srgbClr val="FFFF00"/>
                </a:highlight>
                <a:latin typeface="等线" panose="02010600030101010101" pitchFamily="2" charset="-122"/>
                <a:ea typeface="等线" panose="02010600030101010101" pitchFamily="2" charset="-122"/>
                <a:cs typeface="Times New Roman" panose="02020603050405020304" pitchFamily="18" charset="0"/>
              </a:rPr>
              <a:t>衬层料浆</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是否在涂粘前在储物罐内，是否可以测量他的前期储藏温度，压力，湿度，真空度等。</a:t>
            </a:r>
          </a:p>
          <a:p>
            <a:pPr>
              <a:lnSpc>
                <a:spcPct val="115000"/>
              </a:lnSpc>
              <a:spcAft>
                <a:spcPts val="800"/>
              </a:spcAft>
              <a:buNone/>
            </a:pPr>
            <a:r>
              <a:rPr lang="zh-CN"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湿度不好测。</a:t>
            </a:r>
          </a:p>
          <a:p>
            <a:pPr>
              <a:lnSpc>
                <a:spcPct val="115000"/>
              </a:lnSpc>
              <a:spcAft>
                <a:spcPts val="800"/>
              </a:spcAft>
              <a:buNone/>
            </a:pPr>
            <a:r>
              <a:rPr lang="zh-CN" alt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rPr>
              <a:t>衬层料浆都是现配现用。第一天预拌，第二天加入固化剂，即用。</a:t>
            </a:r>
            <a:endParaRPr lang="en-US" alt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buNone/>
            </a:pPr>
            <a:r>
              <a:rPr lang="zh-CN" altLang="en-US"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微小改变固化剂的用量</a:t>
            </a:r>
            <a:r>
              <a:rPr lang="en-US" altLang="zh-CN"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zh-CN" altLang="en-US"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改变固化程度</a:t>
            </a:r>
            <a:r>
              <a:rPr lang="en-US" altLang="zh-CN"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202116B0-B954-F23B-3C04-1BD2882B4A71}"/>
              </a:ext>
            </a:extLst>
          </p:cNvPr>
          <p:cNvSpPr txBox="1"/>
          <p:nvPr/>
        </p:nvSpPr>
        <p:spPr>
          <a:xfrm>
            <a:off x="1095374" y="4960470"/>
            <a:ext cx="10258425" cy="1553759"/>
          </a:xfrm>
          <a:prstGeom prst="rect">
            <a:avLst/>
          </a:prstGeom>
          <a:noFill/>
        </p:spPr>
        <p:txBody>
          <a:bodyPr wrap="square">
            <a:spAutoFit/>
          </a:bodyPr>
          <a:lstStyle/>
          <a:p>
            <a:pPr>
              <a:lnSpc>
                <a:spcPct val="115000"/>
              </a:lnSpc>
              <a:spcAft>
                <a:spcPts val="800"/>
              </a:spcAft>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药的预混合中有将增塑剂和粘合剂以及铝粉混合，这个过程中加入的粘合剂对药最终粘贴性的影响是否需要考虑？混合比率是否可以调控，是否可以进行比率实验？</a:t>
            </a:r>
          </a:p>
          <a:p>
            <a:pPr>
              <a:lnSpc>
                <a:spcPct val="115000"/>
              </a:lnSpc>
              <a:spcAft>
                <a:spcPts val="800"/>
              </a:spcAft>
              <a:buNone/>
            </a:pPr>
            <a:r>
              <a:rPr lang="zh-CN" alt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rPr>
              <a:t>具体跟配方有关，</a:t>
            </a:r>
            <a:r>
              <a:rPr lang="zh-CN"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同一配方不可调整。</a:t>
            </a:r>
          </a:p>
          <a:p>
            <a:pPr>
              <a:lnSpc>
                <a:spcPct val="115000"/>
              </a:lnSpc>
              <a:spcAft>
                <a:spcPts val="800"/>
              </a:spcAft>
              <a:buNone/>
            </a:pPr>
            <a:r>
              <a:rPr lang="zh-CN" alt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rPr>
              <a:t>增塑剂有时在后期加，粘合剂基本在前面就加好了</a:t>
            </a:r>
            <a:r>
              <a:rPr lang="zh-CN" altLang="en-US" kern="10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B07E57DF-1E74-AEA8-2D8B-5441C2E21C93}"/>
              </a:ext>
            </a:extLst>
          </p:cNvPr>
          <p:cNvSpPr txBox="1"/>
          <p:nvPr/>
        </p:nvSpPr>
        <p:spPr>
          <a:xfrm>
            <a:off x="1095374" y="781050"/>
            <a:ext cx="338140" cy="369332"/>
          </a:xfrm>
          <a:prstGeom prst="rect">
            <a:avLst/>
          </a:prstGeom>
          <a:noFill/>
        </p:spPr>
        <p:txBody>
          <a:bodyPr wrap="square" rtlCol="0">
            <a:spAutoFit/>
          </a:bodyPr>
          <a:lstStyle/>
          <a:p>
            <a:r>
              <a:rPr lang="en-US" altLang="zh-CN" dirty="0"/>
              <a:t>1.</a:t>
            </a:r>
            <a:endParaRPr lang="zh-CN" altLang="en-US" dirty="0"/>
          </a:p>
        </p:txBody>
      </p:sp>
    </p:spTree>
    <p:extLst>
      <p:ext uri="{BB962C8B-B14F-4D97-AF65-F5344CB8AC3E}">
        <p14:creationId xmlns:p14="http://schemas.microsoft.com/office/powerpoint/2010/main" val="972725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3D2128-C187-607A-C92E-6486FF1FDFEB}"/>
              </a:ext>
            </a:extLst>
          </p:cNvPr>
          <p:cNvSpPr>
            <a:spLocks noGrp="1"/>
          </p:cNvSpPr>
          <p:nvPr>
            <p:ph type="title"/>
          </p:nvPr>
        </p:nvSpPr>
        <p:spPr>
          <a:xfrm>
            <a:off x="314325" y="-92075"/>
            <a:ext cx="10515600" cy="1325563"/>
          </a:xfrm>
        </p:spPr>
        <p:txBody>
          <a:bodyPr/>
          <a:lstStyle/>
          <a:p>
            <a:r>
              <a:rPr lang="zh-CN" altLang="zh-CN" dirty="0"/>
              <a:t>对粘接性能的影响</a:t>
            </a:r>
            <a:r>
              <a:rPr lang="zh-CN" altLang="en-US" dirty="0"/>
              <a:t>调研</a:t>
            </a:r>
          </a:p>
        </p:txBody>
      </p:sp>
      <p:sp>
        <p:nvSpPr>
          <p:cNvPr id="3" name="内容占位符 2">
            <a:extLst>
              <a:ext uri="{FF2B5EF4-FFF2-40B4-BE49-F238E27FC236}">
                <a16:creationId xmlns:a16="http://schemas.microsoft.com/office/drawing/2014/main" id="{57468C42-6427-7F72-47D2-8E7E52DF07A7}"/>
              </a:ext>
            </a:extLst>
          </p:cNvPr>
          <p:cNvSpPr>
            <a:spLocks noGrp="1"/>
          </p:cNvSpPr>
          <p:nvPr>
            <p:ph idx="1"/>
          </p:nvPr>
        </p:nvSpPr>
        <p:spPr>
          <a:xfrm>
            <a:off x="619125" y="949325"/>
            <a:ext cx="11163300" cy="4351338"/>
          </a:xfrm>
        </p:spPr>
        <p:txBody>
          <a:bodyPr>
            <a:noAutofit/>
          </a:bodyPr>
          <a:lstStyle/>
          <a:p>
            <a:pPr marL="0" indent="0">
              <a:lnSpc>
                <a:spcPct val="150000"/>
              </a:lnSpc>
              <a:spcBef>
                <a:spcPts val="0"/>
              </a:spcBef>
              <a:buNone/>
            </a:pPr>
            <a:r>
              <a:rPr lang="en-US" altLang="zh-CN" sz="1600" b="1" dirty="0"/>
              <a:t>1.</a:t>
            </a:r>
            <a:r>
              <a:rPr lang="zh-CN" altLang="en-US" sz="1600" b="1" dirty="0"/>
              <a:t>胶粘剂的性质</a:t>
            </a:r>
            <a:endParaRPr lang="en-US" altLang="zh-CN" sz="1600" b="1" dirty="0"/>
          </a:p>
          <a:p>
            <a:pPr marL="0" indent="0">
              <a:lnSpc>
                <a:spcPct val="150000"/>
              </a:lnSpc>
              <a:spcBef>
                <a:spcPts val="0"/>
              </a:spcBef>
              <a:buNone/>
            </a:pPr>
            <a:r>
              <a:rPr lang="zh-CN" altLang="zh-CN" sz="1600" dirty="0">
                <a:solidFill>
                  <a:srgbClr val="FF0000"/>
                </a:solidFill>
              </a:rPr>
              <a:t>表面粗糙度：粗糙表面能增加胶粘剂的机械互锁，提高粘接强度。但表面粗糙度过大也会降低粘接面积</a:t>
            </a:r>
            <a:r>
              <a:rPr lang="zh-CN" altLang="zh-CN" sz="1600" dirty="0"/>
              <a:t>。</a:t>
            </a:r>
            <a:br>
              <a:rPr lang="en-US" altLang="zh-CN" sz="1600" dirty="0"/>
            </a:br>
            <a:r>
              <a:rPr lang="zh-CN" altLang="zh-CN" sz="1600" dirty="0"/>
              <a:t>表面能：表面能高的基材更容易润湿，从而促进胶粘剂的粘附。</a:t>
            </a:r>
            <a:br>
              <a:rPr lang="en-US" altLang="zh-CN" sz="1600" dirty="0"/>
            </a:br>
            <a:r>
              <a:rPr lang="zh-CN" altLang="zh-CN" sz="1600" dirty="0"/>
              <a:t>化学组成：不同基材的化学组成对胶粘剂的粘附性有差异。</a:t>
            </a:r>
            <a:br>
              <a:rPr lang="en-US" altLang="zh-CN" sz="1600" dirty="0"/>
            </a:br>
            <a:r>
              <a:rPr lang="en-US" altLang="zh-CN" sz="1600" b="1" dirty="0"/>
              <a:t>2. </a:t>
            </a:r>
            <a:r>
              <a:rPr lang="zh-CN" altLang="zh-CN" sz="1600" b="1" dirty="0"/>
              <a:t>粘接工艺参数</a:t>
            </a:r>
            <a:br>
              <a:rPr lang="en-US" altLang="zh-CN" sz="1600" dirty="0"/>
            </a:br>
            <a:r>
              <a:rPr lang="en-US" altLang="zh-CN" sz="1600" dirty="0">
                <a:solidFill>
                  <a:srgbClr val="FF0000"/>
                </a:solidFill>
              </a:rPr>
              <a:t>* </a:t>
            </a:r>
            <a:r>
              <a:rPr lang="zh-CN" altLang="zh-CN" sz="1600" dirty="0">
                <a:solidFill>
                  <a:srgbClr val="FF0000"/>
                </a:solidFill>
              </a:rPr>
              <a:t>施胶量：施胶量过多会导致胶接层过厚，降低粘接强度。</a:t>
            </a:r>
            <a:endParaRPr lang="en-US" altLang="zh-CN" sz="1600" dirty="0">
              <a:solidFill>
                <a:srgbClr val="FF0000"/>
              </a:solidFill>
            </a:endParaRPr>
          </a:p>
          <a:p>
            <a:pPr marL="0" indent="0">
              <a:lnSpc>
                <a:spcPct val="150000"/>
              </a:lnSpc>
              <a:spcBef>
                <a:spcPts val="0"/>
              </a:spcBef>
              <a:buNone/>
            </a:pPr>
            <a:r>
              <a:rPr lang="en-US" altLang="zh-CN" sz="1600" dirty="0">
                <a:solidFill>
                  <a:srgbClr val="FF0000"/>
                </a:solidFill>
              </a:rPr>
              <a:t>* </a:t>
            </a:r>
            <a:r>
              <a:rPr lang="zh-CN" altLang="zh-CN" sz="1600" dirty="0">
                <a:solidFill>
                  <a:srgbClr val="FF0000"/>
                </a:solidFill>
              </a:rPr>
              <a:t>固化条件：固化温度、时间和压力会影响胶粘剂的交联程度和粘接强度。</a:t>
            </a:r>
            <a:br>
              <a:rPr lang="en-US" altLang="zh-CN" sz="1600" dirty="0"/>
            </a:br>
            <a:r>
              <a:rPr lang="en-US" altLang="zh-CN" sz="1600" dirty="0">
                <a:solidFill>
                  <a:srgbClr val="FF0000"/>
                </a:solidFill>
              </a:rPr>
              <a:t>* </a:t>
            </a:r>
            <a:r>
              <a:rPr lang="zh-CN" altLang="zh-CN" sz="1600" dirty="0">
                <a:solidFill>
                  <a:srgbClr val="FF0000"/>
                </a:solidFill>
              </a:rPr>
              <a:t>涂布方法：不同的涂布方法会影响胶粘剂的分布和厚度，从而影响粘接强度。</a:t>
            </a:r>
            <a:br>
              <a:rPr lang="en-US" altLang="zh-CN" sz="1600" dirty="0">
                <a:solidFill>
                  <a:srgbClr val="FF0000"/>
                </a:solidFill>
              </a:rPr>
            </a:br>
            <a:r>
              <a:rPr lang="en-US" altLang="zh-CN" sz="1600" b="1" dirty="0"/>
              <a:t>3. </a:t>
            </a:r>
            <a:r>
              <a:rPr lang="zh-CN" altLang="zh-CN" sz="1600" b="1" dirty="0"/>
              <a:t>环境因素</a:t>
            </a:r>
            <a:br>
              <a:rPr lang="en-US" altLang="zh-CN" sz="1600" dirty="0"/>
            </a:br>
            <a:r>
              <a:rPr lang="en-US" altLang="zh-CN" sz="1600" dirty="0">
                <a:solidFill>
                  <a:srgbClr val="FF0000"/>
                </a:solidFill>
              </a:rPr>
              <a:t>* </a:t>
            </a:r>
            <a:r>
              <a:rPr lang="zh-CN" altLang="zh-CN" sz="1600" dirty="0">
                <a:solidFill>
                  <a:srgbClr val="FF0000"/>
                </a:solidFill>
              </a:rPr>
              <a:t>温度：温度会影响胶粘剂的固化过程和粘接强度。高温会导致胶粘剂流动性增加，降低粘接强度。</a:t>
            </a:r>
            <a:br>
              <a:rPr lang="en-US" altLang="zh-CN" sz="1600" dirty="0">
                <a:solidFill>
                  <a:srgbClr val="FF0000"/>
                </a:solidFill>
              </a:rPr>
            </a:br>
            <a:r>
              <a:rPr lang="en-US" altLang="zh-CN" sz="1600" dirty="0">
                <a:solidFill>
                  <a:srgbClr val="FF0000"/>
                </a:solidFill>
              </a:rPr>
              <a:t>* </a:t>
            </a:r>
            <a:r>
              <a:rPr lang="zh-CN" altLang="zh-CN" sz="1600" dirty="0">
                <a:solidFill>
                  <a:srgbClr val="FF0000"/>
                </a:solidFill>
              </a:rPr>
              <a:t>湿度：湿度过高会导致界面形成水膜，降低胶粘剂的粘附性。</a:t>
            </a:r>
            <a:br>
              <a:rPr lang="en-US" altLang="zh-CN" sz="1600" dirty="0"/>
            </a:br>
            <a:r>
              <a:rPr lang="en-US" altLang="zh-CN" sz="1600" dirty="0"/>
              <a:t>* </a:t>
            </a:r>
            <a:r>
              <a:rPr lang="zh-CN" altLang="zh-CN" sz="1600" dirty="0"/>
              <a:t>振动：机械振动会破坏胶接界面，降低粘接强度。</a:t>
            </a:r>
            <a:br>
              <a:rPr lang="en-US" altLang="zh-CN" sz="1600" dirty="0"/>
            </a:br>
            <a:r>
              <a:rPr lang="en-US" altLang="zh-CN" sz="1600" b="1" dirty="0"/>
              <a:t>4. </a:t>
            </a:r>
            <a:r>
              <a:rPr lang="zh-CN" altLang="zh-CN" sz="1600" b="1" dirty="0"/>
              <a:t>其他影响因素</a:t>
            </a:r>
            <a:br>
              <a:rPr lang="en-US" altLang="zh-CN" sz="1600" dirty="0"/>
            </a:br>
            <a:r>
              <a:rPr lang="en-US" altLang="zh-CN" sz="1600" dirty="0">
                <a:solidFill>
                  <a:srgbClr val="FF0000"/>
                </a:solidFill>
              </a:rPr>
              <a:t>* </a:t>
            </a:r>
            <a:r>
              <a:rPr lang="zh-CN" altLang="zh-CN" sz="1600" dirty="0">
                <a:solidFill>
                  <a:srgbClr val="FF0000"/>
                </a:solidFill>
              </a:rPr>
              <a:t>预处理：基材预处理（如表面处理、清洗）可以改善表面特性，提高粘接强度。</a:t>
            </a:r>
            <a:br>
              <a:rPr lang="en-US" altLang="zh-CN" sz="1600" dirty="0"/>
            </a:br>
            <a:r>
              <a:rPr lang="en-US" altLang="zh-CN" sz="1600" dirty="0"/>
              <a:t>* </a:t>
            </a:r>
            <a:r>
              <a:rPr lang="zh-CN" altLang="zh-CN" sz="1600" dirty="0"/>
              <a:t>界面改性：通过添加界面改性剂或进行表面改性，可以增强胶粘剂与基材的相互作用，提高粘接强度。</a:t>
            </a:r>
            <a:br>
              <a:rPr lang="en-US" altLang="zh-CN" sz="1600" dirty="0"/>
            </a:br>
            <a:endParaRPr lang="zh-CN" altLang="en-US" sz="1600" dirty="0"/>
          </a:p>
        </p:txBody>
      </p:sp>
    </p:spTree>
    <p:extLst>
      <p:ext uri="{BB962C8B-B14F-4D97-AF65-F5344CB8AC3E}">
        <p14:creationId xmlns:p14="http://schemas.microsoft.com/office/powerpoint/2010/main" val="27434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F852C-FBB8-5BFE-25F6-2CAA5577B75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F423DC4-BEAF-9A17-01D2-EE8CAD4DB11A}"/>
              </a:ext>
            </a:extLst>
          </p:cNvPr>
          <p:cNvSpPr txBox="1"/>
          <p:nvPr/>
        </p:nvSpPr>
        <p:spPr>
          <a:xfrm>
            <a:off x="9168247" y="452460"/>
            <a:ext cx="2392220" cy="3046988"/>
          </a:xfrm>
          <a:prstGeom prst="rect">
            <a:avLst/>
          </a:prstGeom>
          <a:noFill/>
        </p:spPr>
        <p:txBody>
          <a:bodyPr wrap="square" rtlCol="0">
            <a:spAutoFit/>
          </a:bodyPr>
          <a:lstStyle/>
          <a:p>
            <a:r>
              <a:rPr kumimoji="1" lang="zh-CN" altLang="en-US" sz="1600" dirty="0"/>
              <a:t>工房设定温度</a:t>
            </a:r>
            <a:endParaRPr kumimoji="1" lang="en-US" altLang="zh-CN" sz="1600" dirty="0"/>
          </a:p>
          <a:p>
            <a:r>
              <a:rPr kumimoji="1" lang="zh-CN" altLang="en-US" sz="1600" dirty="0"/>
              <a:t>工房设定湿度</a:t>
            </a:r>
            <a:endParaRPr kumimoji="1" lang="en-US" altLang="zh-CN" sz="1600" dirty="0"/>
          </a:p>
          <a:p>
            <a:r>
              <a:rPr kumimoji="1" lang="zh-CN" altLang="en-US" sz="1600" dirty="0"/>
              <a:t>工房外温度（运送）</a:t>
            </a:r>
            <a:endParaRPr kumimoji="1" lang="en-US" altLang="zh-CN" sz="1600" dirty="0"/>
          </a:p>
          <a:p>
            <a:r>
              <a:rPr kumimoji="1" lang="zh-CN" altLang="en-US" sz="1600" dirty="0"/>
              <a:t>工房外湿度（运送）</a:t>
            </a:r>
            <a:endParaRPr kumimoji="1" lang="en-US" altLang="zh-CN" sz="1600" dirty="0"/>
          </a:p>
          <a:p>
            <a:r>
              <a:rPr kumimoji="1" lang="zh-CN" altLang="en-US" sz="1600" dirty="0"/>
              <a:t>浇注推荐开度</a:t>
            </a:r>
            <a:endParaRPr kumimoji="1" lang="en-US" altLang="zh-CN" sz="1600" dirty="0"/>
          </a:p>
          <a:p>
            <a:r>
              <a:rPr kumimoji="1" lang="zh-CN" altLang="en-US" sz="1600" dirty="0"/>
              <a:t>浇注推荐时间</a:t>
            </a:r>
            <a:endParaRPr kumimoji="1" lang="en-US" altLang="zh-CN" sz="1600" dirty="0"/>
          </a:p>
          <a:p>
            <a:r>
              <a:rPr kumimoji="1" lang="zh-CN" altLang="en-US" sz="1600" dirty="0"/>
              <a:t>壳体推荐加热时长</a:t>
            </a:r>
            <a:endParaRPr kumimoji="1" lang="en-US" altLang="zh-CN" sz="1600" dirty="0"/>
          </a:p>
          <a:p>
            <a:r>
              <a:rPr kumimoji="1" lang="zh-CN" altLang="en-US" sz="1600" dirty="0"/>
              <a:t>壳体温度推荐设定值</a:t>
            </a:r>
            <a:endParaRPr kumimoji="1" lang="en-US" altLang="zh-CN" sz="1600" dirty="0"/>
          </a:p>
          <a:p>
            <a:r>
              <a:rPr kumimoji="1" lang="zh-CN" altLang="en-US" sz="1600" dirty="0"/>
              <a:t>衬层推荐加热时长</a:t>
            </a:r>
            <a:endParaRPr kumimoji="1" lang="en-US" altLang="zh-CN" sz="1600" dirty="0"/>
          </a:p>
          <a:p>
            <a:r>
              <a:rPr kumimoji="1" lang="zh-CN" altLang="en-US" sz="1600" dirty="0"/>
              <a:t>衬层温度推荐设定值</a:t>
            </a:r>
            <a:endParaRPr kumimoji="1" lang="en-US" altLang="zh-CN" sz="1600" dirty="0"/>
          </a:p>
          <a:p>
            <a:r>
              <a:rPr kumimoji="1" lang="zh-CN" altLang="en-US" sz="1600" dirty="0"/>
              <a:t>药浆推荐加热时长</a:t>
            </a:r>
            <a:endParaRPr kumimoji="1" lang="en-US" altLang="zh-CN" sz="1600" dirty="0"/>
          </a:p>
          <a:p>
            <a:r>
              <a:rPr kumimoji="1" lang="zh-CN" altLang="en-US" sz="1600" dirty="0"/>
              <a:t>药浆温度推荐设定值</a:t>
            </a:r>
            <a:endParaRPr kumimoji="1" lang="en-US" altLang="zh-CN" sz="1600" dirty="0"/>
          </a:p>
        </p:txBody>
      </p:sp>
      <p:sp>
        <p:nvSpPr>
          <p:cNvPr id="5" name="文本框 4">
            <a:extLst>
              <a:ext uri="{FF2B5EF4-FFF2-40B4-BE49-F238E27FC236}">
                <a16:creationId xmlns:a16="http://schemas.microsoft.com/office/drawing/2014/main" id="{A115B1CB-38DA-9CFC-7F4E-707834A8448B}"/>
              </a:ext>
            </a:extLst>
          </p:cNvPr>
          <p:cNvSpPr txBox="1"/>
          <p:nvPr/>
        </p:nvSpPr>
        <p:spPr>
          <a:xfrm>
            <a:off x="773544" y="452461"/>
            <a:ext cx="2392220" cy="5509200"/>
          </a:xfrm>
          <a:prstGeom prst="rect">
            <a:avLst/>
          </a:prstGeom>
          <a:noFill/>
        </p:spPr>
        <p:txBody>
          <a:bodyPr wrap="square" rtlCol="0">
            <a:spAutoFit/>
          </a:bodyPr>
          <a:lstStyle/>
          <a:p>
            <a:r>
              <a:rPr kumimoji="1" lang="zh-CN" altLang="en-US" sz="1600" dirty="0"/>
              <a:t>工房温度</a:t>
            </a:r>
            <a:endParaRPr kumimoji="1" lang="en-US" altLang="zh-CN" sz="1600" dirty="0"/>
          </a:p>
          <a:p>
            <a:r>
              <a:rPr kumimoji="1" lang="zh-CN" altLang="en-US" sz="1600" dirty="0"/>
              <a:t>工房湿度</a:t>
            </a:r>
            <a:endParaRPr kumimoji="1" lang="en-US" altLang="zh-CN" sz="1600" dirty="0"/>
          </a:p>
          <a:p>
            <a:r>
              <a:rPr kumimoji="1" lang="zh-CN" altLang="en-US" sz="1600" dirty="0"/>
              <a:t>工房外温度（运送）</a:t>
            </a:r>
            <a:endParaRPr kumimoji="1" lang="en-US" altLang="zh-CN" sz="1600" dirty="0"/>
          </a:p>
          <a:p>
            <a:r>
              <a:rPr kumimoji="1" lang="zh-CN" altLang="en-US" sz="1600" dirty="0"/>
              <a:t>工房外湿度（运送）</a:t>
            </a:r>
            <a:endParaRPr kumimoji="1" lang="en-US" altLang="zh-CN" sz="1600" dirty="0"/>
          </a:p>
          <a:p>
            <a:r>
              <a:rPr kumimoji="1" lang="zh-CN" altLang="en-US" sz="1600" dirty="0"/>
              <a:t>药浆高度</a:t>
            </a:r>
            <a:endParaRPr kumimoji="1" lang="en-US" altLang="zh-CN" sz="1600" dirty="0"/>
          </a:p>
          <a:p>
            <a:r>
              <a:rPr kumimoji="1" lang="zh-CN" altLang="en-US" sz="1600" dirty="0"/>
              <a:t>浇注开度</a:t>
            </a:r>
            <a:endParaRPr kumimoji="1" lang="en-US" altLang="zh-CN" sz="1600" dirty="0"/>
          </a:p>
          <a:p>
            <a:r>
              <a:rPr kumimoji="1" lang="zh-CN" altLang="en-US" sz="1600" dirty="0"/>
              <a:t>浇注时间</a:t>
            </a:r>
            <a:endParaRPr kumimoji="1" lang="en-US" altLang="zh-CN" sz="1600" dirty="0"/>
          </a:p>
          <a:p>
            <a:r>
              <a:rPr kumimoji="1" lang="zh-CN" altLang="en-US" sz="1600" dirty="0"/>
              <a:t>壳体加热时间点</a:t>
            </a:r>
            <a:endParaRPr kumimoji="1" lang="en-US" altLang="zh-CN" sz="1600" dirty="0"/>
          </a:p>
          <a:p>
            <a:r>
              <a:rPr kumimoji="1" lang="zh-CN" altLang="en-US" sz="1600" dirty="0"/>
              <a:t>壳体加热时长</a:t>
            </a:r>
            <a:endParaRPr kumimoji="1" lang="en-US" altLang="zh-CN" sz="1600" dirty="0"/>
          </a:p>
          <a:p>
            <a:r>
              <a:rPr kumimoji="1" lang="zh-CN" altLang="en-US" sz="1600" dirty="0"/>
              <a:t>壳体温度设定值</a:t>
            </a:r>
            <a:endParaRPr kumimoji="1" lang="en-US" altLang="zh-CN" sz="1600" dirty="0"/>
          </a:p>
          <a:p>
            <a:r>
              <a:rPr kumimoji="1" lang="zh-CN" altLang="en-US" sz="1600" dirty="0"/>
              <a:t>壳体温度</a:t>
            </a:r>
            <a:endParaRPr kumimoji="1" lang="en-US" altLang="zh-CN" sz="1600" dirty="0"/>
          </a:p>
          <a:p>
            <a:r>
              <a:rPr kumimoji="1" lang="zh-CN" altLang="en-US" sz="1600" dirty="0"/>
              <a:t>衬层加热时间点</a:t>
            </a:r>
            <a:endParaRPr kumimoji="1" lang="en-US" altLang="zh-CN" sz="1600" dirty="0"/>
          </a:p>
          <a:p>
            <a:r>
              <a:rPr kumimoji="1" lang="zh-CN" altLang="en-US" sz="1600" dirty="0"/>
              <a:t>衬层加热时长</a:t>
            </a:r>
            <a:endParaRPr kumimoji="1" lang="en-US" altLang="zh-CN" sz="1600" dirty="0"/>
          </a:p>
          <a:p>
            <a:r>
              <a:rPr kumimoji="1" lang="zh-CN" altLang="en-US" sz="1600" dirty="0"/>
              <a:t>衬层温度设定值</a:t>
            </a:r>
            <a:endParaRPr kumimoji="1" lang="en-US" altLang="zh-CN" sz="1600" dirty="0"/>
          </a:p>
          <a:p>
            <a:r>
              <a:rPr kumimoji="1" lang="zh-CN" altLang="en-US" sz="1600" dirty="0"/>
              <a:t>衬层温度</a:t>
            </a:r>
            <a:endParaRPr kumimoji="1" lang="en-US" altLang="zh-CN" sz="1600" dirty="0"/>
          </a:p>
          <a:p>
            <a:r>
              <a:rPr kumimoji="1" lang="zh-CN" altLang="en-US" sz="1600" dirty="0"/>
              <a:t>药浆加热时间点</a:t>
            </a:r>
            <a:endParaRPr kumimoji="1" lang="en-US" altLang="zh-CN" sz="1600" dirty="0"/>
          </a:p>
          <a:p>
            <a:r>
              <a:rPr kumimoji="1" lang="zh-CN" altLang="en-US" sz="1600" dirty="0"/>
              <a:t>药浆加热时长</a:t>
            </a:r>
            <a:endParaRPr kumimoji="1" lang="en-US" altLang="zh-CN" sz="1600" dirty="0"/>
          </a:p>
          <a:p>
            <a:r>
              <a:rPr kumimoji="1" lang="zh-CN" altLang="en-US" sz="1600" dirty="0"/>
              <a:t>药浆温度设定值</a:t>
            </a:r>
            <a:endParaRPr kumimoji="1" lang="en-US" altLang="zh-CN" sz="1600" dirty="0"/>
          </a:p>
          <a:p>
            <a:r>
              <a:rPr kumimoji="1" lang="zh-CN" altLang="en-US" sz="1600" dirty="0"/>
              <a:t>药浆温度</a:t>
            </a:r>
            <a:endParaRPr kumimoji="1" lang="en-US" altLang="zh-CN" sz="1600" dirty="0"/>
          </a:p>
          <a:p>
            <a:r>
              <a:rPr kumimoji="1" lang="zh-CN" altLang="en-US" sz="1600" dirty="0"/>
              <a:t>药浆粘度预测值</a:t>
            </a:r>
            <a:endParaRPr kumimoji="1" lang="en-US" altLang="zh-CN" sz="1600" dirty="0"/>
          </a:p>
          <a:p>
            <a:r>
              <a:rPr kumimoji="1" lang="zh-CN" altLang="en-US" sz="1600" dirty="0"/>
              <a:t>药浆屈服强度预测值</a:t>
            </a:r>
            <a:endParaRPr kumimoji="1" lang="en-US" altLang="zh-CN" sz="1600" dirty="0"/>
          </a:p>
          <a:p>
            <a:r>
              <a:rPr kumimoji="1" lang="zh-CN" altLang="en-US" sz="1600" dirty="0"/>
              <a:t>药浆均匀度预测值</a:t>
            </a:r>
            <a:endParaRPr kumimoji="1" lang="en-US" altLang="zh-CN" sz="1600" dirty="0"/>
          </a:p>
        </p:txBody>
      </p:sp>
      <p:sp>
        <p:nvSpPr>
          <p:cNvPr id="6" name="文本框 5">
            <a:extLst>
              <a:ext uri="{FF2B5EF4-FFF2-40B4-BE49-F238E27FC236}">
                <a16:creationId xmlns:a16="http://schemas.microsoft.com/office/drawing/2014/main" id="{E1748C22-C87E-2EF4-4995-2F642E2D6152}"/>
              </a:ext>
            </a:extLst>
          </p:cNvPr>
          <p:cNvSpPr txBox="1"/>
          <p:nvPr/>
        </p:nvSpPr>
        <p:spPr>
          <a:xfrm>
            <a:off x="9026238" y="83129"/>
            <a:ext cx="2492990" cy="369332"/>
          </a:xfrm>
          <a:prstGeom prst="rect">
            <a:avLst/>
          </a:prstGeom>
          <a:noFill/>
        </p:spPr>
        <p:txBody>
          <a:bodyPr wrap="none" rtlCol="0">
            <a:spAutoFit/>
          </a:bodyPr>
          <a:lstStyle/>
          <a:p>
            <a:r>
              <a:rPr kumimoji="1" lang="zh-CN" altLang="en-US" dirty="0"/>
              <a:t>输出相应参数的推荐值</a:t>
            </a:r>
          </a:p>
        </p:txBody>
      </p:sp>
      <p:sp>
        <p:nvSpPr>
          <p:cNvPr id="7" name="文本框 6">
            <a:extLst>
              <a:ext uri="{FF2B5EF4-FFF2-40B4-BE49-F238E27FC236}">
                <a16:creationId xmlns:a16="http://schemas.microsoft.com/office/drawing/2014/main" id="{96607737-C943-93EC-BFE1-129ADBB43B3B}"/>
              </a:ext>
            </a:extLst>
          </p:cNvPr>
          <p:cNvSpPr txBox="1"/>
          <p:nvPr/>
        </p:nvSpPr>
        <p:spPr>
          <a:xfrm>
            <a:off x="554855" y="21421"/>
            <a:ext cx="1569660" cy="369332"/>
          </a:xfrm>
          <a:prstGeom prst="rect">
            <a:avLst/>
          </a:prstGeom>
          <a:noFill/>
        </p:spPr>
        <p:txBody>
          <a:bodyPr wrap="none" rtlCol="0">
            <a:spAutoFit/>
          </a:bodyPr>
          <a:lstStyle/>
          <a:p>
            <a:r>
              <a:rPr kumimoji="1" lang="zh-CN" altLang="en-US" dirty="0"/>
              <a:t>输出关键参数</a:t>
            </a:r>
          </a:p>
        </p:txBody>
      </p:sp>
      <p:sp>
        <p:nvSpPr>
          <p:cNvPr id="8" name="文本框 7">
            <a:extLst>
              <a:ext uri="{FF2B5EF4-FFF2-40B4-BE49-F238E27FC236}">
                <a16:creationId xmlns:a16="http://schemas.microsoft.com/office/drawing/2014/main" id="{37D39147-2470-BE0D-7D06-F7AA54075C2E}"/>
              </a:ext>
            </a:extLst>
          </p:cNvPr>
          <p:cNvSpPr txBox="1"/>
          <p:nvPr/>
        </p:nvSpPr>
        <p:spPr>
          <a:xfrm>
            <a:off x="3165764" y="3312385"/>
            <a:ext cx="5265635" cy="2862322"/>
          </a:xfrm>
          <a:prstGeom prst="rect">
            <a:avLst/>
          </a:prstGeom>
          <a:noFill/>
        </p:spPr>
        <p:txBody>
          <a:bodyPr wrap="square" rtlCol="0">
            <a:spAutoFit/>
          </a:bodyPr>
          <a:lstStyle/>
          <a:p>
            <a:pPr algn="ctr"/>
            <a:r>
              <a:rPr kumimoji="1" lang="zh-CN" altLang="en-US" dirty="0"/>
              <a:t>指标：</a:t>
            </a:r>
            <a:r>
              <a:rPr kumimoji="1" lang="en-US" altLang="zh-CN" dirty="0"/>
              <a:t>CPK</a:t>
            </a:r>
            <a:r>
              <a:rPr kumimoji="1" lang="zh-CN" altLang="en-US" dirty="0"/>
              <a:t>提升</a:t>
            </a:r>
            <a:r>
              <a:rPr kumimoji="1" lang="en-US" altLang="zh-CN" dirty="0"/>
              <a:t>30%</a:t>
            </a:r>
          </a:p>
          <a:p>
            <a:r>
              <a:rPr kumimoji="1" lang="en-US" altLang="zh-CN" dirty="0"/>
              <a:t>1.</a:t>
            </a:r>
            <a:r>
              <a:rPr kumimoji="1" lang="zh-CN" altLang="en-US" dirty="0"/>
              <a:t>稳定性（通过数据模型驱动）</a:t>
            </a:r>
            <a:endParaRPr kumimoji="1" lang="en-US" altLang="zh-CN" dirty="0"/>
          </a:p>
          <a:p>
            <a:r>
              <a:rPr kumimoji="1" lang="zh-CN" altLang="en-US" dirty="0"/>
              <a:t>传统的预测模型：</a:t>
            </a:r>
            <a:r>
              <a:rPr kumimoji="1" lang="en-US" altLang="zh-CN" dirty="0" err="1"/>
              <a:t>Xgboost</a:t>
            </a:r>
            <a:r>
              <a:rPr kumimoji="1" lang="zh-CN" altLang="en-US" dirty="0"/>
              <a:t>、</a:t>
            </a:r>
            <a:r>
              <a:rPr kumimoji="1" lang="en-US" altLang="zh-CN" dirty="0" err="1"/>
              <a:t>lightGBM</a:t>
            </a:r>
            <a:endParaRPr kumimoji="1" lang="en-US" altLang="zh-CN" dirty="0"/>
          </a:p>
          <a:p>
            <a:r>
              <a:rPr kumimoji="1" lang="zh-CN" altLang="en-US" dirty="0"/>
              <a:t>传统的优化方法方法：遗传算法（</a:t>
            </a:r>
            <a:r>
              <a:rPr kumimoji="1" lang="en-US" altLang="zh-CN" dirty="0"/>
              <a:t>GA</a:t>
            </a:r>
            <a:r>
              <a:rPr kumimoji="1" lang="zh-CN" altLang="en-US" dirty="0"/>
              <a:t>）与</a:t>
            </a:r>
            <a:r>
              <a:rPr kumimoji="1" lang="en-US" altLang="zh-CN" dirty="0"/>
              <a:t>NSGA-II​</a:t>
            </a:r>
            <a:r>
              <a:rPr kumimoji="1" lang="zh-CN" altLang="en-US" dirty="0"/>
              <a:t>、粒子群优化（</a:t>
            </a:r>
            <a:r>
              <a:rPr kumimoji="1" lang="en-US" altLang="zh-CN" dirty="0"/>
              <a:t>PSO</a:t>
            </a:r>
            <a:r>
              <a:rPr kumimoji="1" lang="zh-CN" altLang="en-US" dirty="0"/>
              <a:t>）</a:t>
            </a:r>
            <a:endParaRPr kumimoji="1" lang="en-US" altLang="zh-CN" dirty="0"/>
          </a:p>
          <a:p>
            <a:endParaRPr kumimoji="1" lang="en-US" altLang="zh-CN" dirty="0"/>
          </a:p>
          <a:p>
            <a:endParaRPr kumimoji="1" lang="en-US" altLang="zh-CN" dirty="0"/>
          </a:p>
          <a:p>
            <a:r>
              <a:rPr kumimoji="1" lang="en-US" altLang="zh-CN" dirty="0"/>
              <a:t>2.</a:t>
            </a:r>
            <a:r>
              <a:rPr kumimoji="1" lang="zh-CN" altLang="en-US" dirty="0"/>
              <a:t>居中（通过机理模型约束）</a:t>
            </a:r>
            <a:endParaRPr kumimoji="1" lang="en-US" altLang="zh-CN" dirty="0"/>
          </a:p>
          <a:p>
            <a:r>
              <a:rPr kumimoji="1" lang="zh-CN" altLang="en-US" dirty="0"/>
              <a:t>动量、热量、质量传递方程</a:t>
            </a:r>
            <a:endParaRPr kumimoji="1" lang="en-US" altLang="zh-CN" dirty="0"/>
          </a:p>
          <a:p>
            <a:endParaRPr kumimoji="1" lang="zh-CN" altLang="en-US" dirty="0"/>
          </a:p>
        </p:txBody>
      </p:sp>
      <p:pic>
        <p:nvPicPr>
          <p:cNvPr id="3" name="图片 2">
            <a:extLst>
              <a:ext uri="{FF2B5EF4-FFF2-40B4-BE49-F238E27FC236}">
                <a16:creationId xmlns:a16="http://schemas.microsoft.com/office/drawing/2014/main" id="{43548727-FFEF-5FFF-AC3A-AA1634A5FFD8}"/>
              </a:ext>
            </a:extLst>
          </p:cNvPr>
          <p:cNvPicPr>
            <a:picLocks noChangeAspect="1"/>
          </p:cNvPicPr>
          <p:nvPr/>
        </p:nvPicPr>
        <p:blipFill>
          <a:blip r:embed="rId2"/>
          <a:stretch>
            <a:fillRect/>
          </a:stretch>
        </p:blipFill>
        <p:spPr>
          <a:xfrm>
            <a:off x="6262388" y="4889737"/>
            <a:ext cx="4446008" cy="1715855"/>
          </a:xfrm>
          <a:prstGeom prst="rect">
            <a:avLst/>
          </a:prstGeom>
        </p:spPr>
      </p:pic>
      <p:sp>
        <p:nvSpPr>
          <p:cNvPr id="9" name="文本框 8">
            <a:extLst>
              <a:ext uri="{FF2B5EF4-FFF2-40B4-BE49-F238E27FC236}">
                <a16:creationId xmlns:a16="http://schemas.microsoft.com/office/drawing/2014/main" id="{2DC31908-7309-FBC5-541D-DFAE51121356}"/>
              </a:ext>
            </a:extLst>
          </p:cNvPr>
          <p:cNvSpPr txBox="1"/>
          <p:nvPr/>
        </p:nvSpPr>
        <p:spPr>
          <a:xfrm>
            <a:off x="4304418" y="770582"/>
            <a:ext cx="2988326" cy="369332"/>
          </a:xfrm>
          <a:prstGeom prst="rect">
            <a:avLst/>
          </a:prstGeom>
          <a:noFill/>
        </p:spPr>
        <p:txBody>
          <a:bodyPr wrap="square">
            <a:spAutoFit/>
          </a:bodyPr>
          <a:lstStyle/>
          <a:p>
            <a:pPr algn="ctr"/>
            <a:r>
              <a:rPr kumimoji="1" lang="zh-CN" altLang="en-US" sz="1800" dirty="0"/>
              <a:t>扯离强度</a:t>
            </a:r>
            <a:endParaRPr kumimoji="1" lang="en-US" altLang="zh-CN" sz="1800" dirty="0"/>
          </a:p>
        </p:txBody>
      </p:sp>
    </p:spTree>
    <p:extLst>
      <p:ext uri="{BB962C8B-B14F-4D97-AF65-F5344CB8AC3E}">
        <p14:creationId xmlns:p14="http://schemas.microsoft.com/office/powerpoint/2010/main" val="742181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表, 散点图&#10;&#10;描述已自动生成">
            <a:extLst>
              <a:ext uri="{FF2B5EF4-FFF2-40B4-BE49-F238E27FC236}">
                <a16:creationId xmlns:a16="http://schemas.microsoft.com/office/drawing/2014/main" id="{5B57B2B4-DBBF-7520-F00E-71B6955F170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966" t="7318" r="18413" b="2800"/>
          <a:stretch/>
        </p:blipFill>
        <p:spPr>
          <a:xfrm>
            <a:off x="1758692" y="123121"/>
            <a:ext cx="9523852" cy="3174619"/>
          </a:xfrm>
          <a:prstGeom prst="rect">
            <a:avLst/>
          </a:prstGeom>
        </p:spPr>
      </p:pic>
      <p:sp>
        <p:nvSpPr>
          <p:cNvPr id="6" name="Shape 2579">
            <a:extLst>
              <a:ext uri="{FF2B5EF4-FFF2-40B4-BE49-F238E27FC236}">
                <a16:creationId xmlns:a16="http://schemas.microsoft.com/office/drawing/2014/main" id="{520D768D-5E82-21C2-CA19-B9BCFF3EC15B}"/>
              </a:ext>
            </a:extLst>
          </p:cNvPr>
          <p:cNvSpPr/>
          <p:nvPr/>
        </p:nvSpPr>
        <p:spPr>
          <a:xfrm>
            <a:off x="1790628" y="3192992"/>
            <a:ext cx="209496" cy="209496"/>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solidFill>
            <a:schemeClr val="bg1"/>
          </a:solidFill>
          <a:ln w="12700">
            <a:miter lim="400000"/>
          </a:ln>
        </p:spPr>
        <p:txBody>
          <a:bodyPr lIns="14284" tIns="14284" rIns="14284" bIns="14284" anchor="ctr"/>
          <a:lstStyle/>
          <a:p>
            <a:pPr defTabSz="17145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latin typeface="Source Sans Pro Light" charset="0"/>
              <a:ea typeface="Source Sans Pro Light" charset="0"/>
              <a:cs typeface="Source Sans Pro Light" charset="0"/>
            </a:endParaRPr>
          </a:p>
        </p:txBody>
      </p:sp>
      <p:sp>
        <p:nvSpPr>
          <p:cNvPr id="7" name="Subtitle 2">
            <a:extLst>
              <a:ext uri="{FF2B5EF4-FFF2-40B4-BE49-F238E27FC236}">
                <a16:creationId xmlns:a16="http://schemas.microsoft.com/office/drawing/2014/main" id="{9C19D7B5-5287-31AB-C4CF-DA41DE08576C}"/>
              </a:ext>
            </a:extLst>
          </p:cNvPr>
          <p:cNvSpPr txBox="1"/>
          <p:nvPr/>
        </p:nvSpPr>
        <p:spPr bwMode="auto">
          <a:xfrm>
            <a:off x="157726" y="3833421"/>
            <a:ext cx="3824200" cy="3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745" tIns="54373" rIns="108745" bIns="54373">
            <a:spAutoFit/>
          </a:bodyPr>
          <a:lstStyle>
            <a:lvl1pPr defTabSz="1087755">
              <a:spcBef>
                <a:spcPct val="20000"/>
              </a:spcBef>
              <a:buChar char="•"/>
              <a:defRPr sz="3200">
                <a:solidFill>
                  <a:schemeClr val="tx1"/>
                </a:solidFill>
                <a:latin typeface="Arial" panose="020B0604020202020204" pitchFamily="34" charset="0"/>
                <a:ea typeface="宋体" panose="02010600030101010101" pitchFamily="2" charset="-122"/>
              </a:defRPr>
            </a:lvl1pPr>
            <a:lvl2pPr marL="1087755" indent="-285750" defTabSz="1087755">
              <a:spcBef>
                <a:spcPct val="20000"/>
              </a:spcBef>
              <a:buChar char="–"/>
              <a:defRPr sz="2800">
                <a:solidFill>
                  <a:schemeClr val="tx1"/>
                </a:solidFill>
                <a:latin typeface="Arial" panose="020B0604020202020204" pitchFamily="34" charset="0"/>
                <a:ea typeface="宋体" panose="02010600030101010101" pitchFamily="2" charset="-122"/>
              </a:defRPr>
            </a:lvl2pPr>
            <a:lvl3pPr marL="2174875" indent="-228600" defTabSz="1087755">
              <a:spcBef>
                <a:spcPct val="20000"/>
              </a:spcBef>
              <a:buChar char="•"/>
              <a:defRPr sz="2400">
                <a:solidFill>
                  <a:schemeClr val="tx1"/>
                </a:solidFill>
                <a:latin typeface="Arial" panose="020B0604020202020204" pitchFamily="34" charset="0"/>
                <a:ea typeface="宋体" panose="02010600030101010101" pitchFamily="2" charset="-122"/>
              </a:defRPr>
            </a:lvl3pPr>
            <a:lvl4pPr marL="326263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4pPr>
            <a:lvl5pPr marL="434975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5pPr>
            <a:lvl6pPr marL="48069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52641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57213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61785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buNone/>
            </a:pPr>
            <a:r>
              <a:rPr lang="zh-CN" altLang="en-US" sz="1350" b="1" dirty="0">
                <a:latin typeface="微软雅黑" panose="020B0503020204020204" pitchFamily="34" charset="-122"/>
                <a:ea typeface="微软雅黑" panose="020B0503020204020204" pitchFamily="34" charset="-122"/>
                <a:cs typeface="Lantinghei SC Demibold" charset="-122"/>
                <a:sym typeface="时尚中黑简体" charset="0"/>
              </a:rPr>
              <a:t>相关系数</a:t>
            </a:r>
            <a:endParaRPr lang="en-US" altLang="zh-CN" sz="1350" b="1" dirty="0">
              <a:latin typeface="微软雅黑" panose="020B0503020204020204" pitchFamily="34" charset="-122"/>
              <a:ea typeface="微软雅黑" panose="020B0503020204020204" pitchFamily="34" charset="-122"/>
              <a:cs typeface="Lantinghei SC Demibold" charset="-122"/>
              <a:sym typeface="时尚中黑简体" charset="0"/>
            </a:endParaRPr>
          </a:p>
        </p:txBody>
      </p:sp>
      <p:pic>
        <p:nvPicPr>
          <p:cNvPr id="8" name="图片 7">
            <a:extLst>
              <a:ext uri="{FF2B5EF4-FFF2-40B4-BE49-F238E27FC236}">
                <a16:creationId xmlns:a16="http://schemas.microsoft.com/office/drawing/2014/main" id="{28186C92-43DE-BC9A-8E3F-89026C539EC2}"/>
              </a:ext>
            </a:extLst>
          </p:cNvPr>
          <p:cNvPicPr>
            <a:picLocks noChangeAspect="1"/>
          </p:cNvPicPr>
          <p:nvPr/>
        </p:nvPicPr>
        <p:blipFill>
          <a:blip r:embed="rId3"/>
          <a:stretch>
            <a:fillRect/>
          </a:stretch>
        </p:blipFill>
        <p:spPr>
          <a:xfrm>
            <a:off x="2263489" y="3665009"/>
            <a:ext cx="4279953" cy="3109654"/>
          </a:xfrm>
          <a:prstGeom prst="rect">
            <a:avLst/>
          </a:prstGeom>
        </p:spPr>
      </p:pic>
      <p:pic>
        <p:nvPicPr>
          <p:cNvPr id="9" name="图片 8">
            <a:extLst>
              <a:ext uri="{FF2B5EF4-FFF2-40B4-BE49-F238E27FC236}">
                <a16:creationId xmlns:a16="http://schemas.microsoft.com/office/drawing/2014/main" id="{713649D9-2C8D-04F9-4104-6B620D009010}"/>
              </a:ext>
            </a:extLst>
          </p:cNvPr>
          <p:cNvPicPr>
            <a:picLocks noChangeAspect="1"/>
          </p:cNvPicPr>
          <p:nvPr/>
        </p:nvPicPr>
        <p:blipFill>
          <a:blip r:embed="rId4"/>
          <a:stretch>
            <a:fillRect/>
          </a:stretch>
        </p:blipFill>
        <p:spPr>
          <a:xfrm>
            <a:off x="6520618" y="3665009"/>
            <a:ext cx="4338041" cy="3109654"/>
          </a:xfrm>
          <a:prstGeom prst="rect">
            <a:avLst/>
          </a:prstGeom>
        </p:spPr>
      </p:pic>
      <p:sp>
        <p:nvSpPr>
          <p:cNvPr id="10" name="Subtitle 2">
            <a:extLst>
              <a:ext uri="{FF2B5EF4-FFF2-40B4-BE49-F238E27FC236}">
                <a16:creationId xmlns:a16="http://schemas.microsoft.com/office/drawing/2014/main" id="{776AE175-7767-301C-66A9-9C07DAD1BA33}"/>
              </a:ext>
            </a:extLst>
          </p:cNvPr>
          <p:cNvSpPr txBox="1"/>
          <p:nvPr/>
        </p:nvSpPr>
        <p:spPr bwMode="auto">
          <a:xfrm>
            <a:off x="157726" y="653076"/>
            <a:ext cx="1632902" cy="3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745" tIns="54373" rIns="108745" bIns="54373">
            <a:spAutoFit/>
          </a:bodyPr>
          <a:lstStyle>
            <a:lvl1pPr defTabSz="1087755">
              <a:spcBef>
                <a:spcPct val="20000"/>
              </a:spcBef>
              <a:buChar char="•"/>
              <a:defRPr sz="3200">
                <a:solidFill>
                  <a:schemeClr val="tx1"/>
                </a:solidFill>
                <a:latin typeface="Arial" panose="020B0604020202020204" pitchFamily="34" charset="0"/>
                <a:ea typeface="宋体" panose="02010600030101010101" pitchFamily="2" charset="-122"/>
              </a:defRPr>
            </a:lvl1pPr>
            <a:lvl2pPr marL="1087755" indent="-285750" defTabSz="1087755">
              <a:spcBef>
                <a:spcPct val="20000"/>
              </a:spcBef>
              <a:buChar char="–"/>
              <a:defRPr sz="2800">
                <a:solidFill>
                  <a:schemeClr val="tx1"/>
                </a:solidFill>
                <a:latin typeface="Arial" panose="020B0604020202020204" pitchFamily="34" charset="0"/>
                <a:ea typeface="宋体" panose="02010600030101010101" pitchFamily="2" charset="-122"/>
              </a:defRPr>
            </a:lvl2pPr>
            <a:lvl3pPr marL="2174875" indent="-228600" defTabSz="1087755">
              <a:spcBef>
                <a:spcPct val="20000"/>
              </a:spcBef>
              <a:buChar char="•"/>
              <a:defRPr sz="2400">
                <a:solidFill>
                  <a:schemeClr val="tx1"/>
                </a:solidFill>
                <a:latin typeface="Arial" panose="020B0604020202020204" pitchFamily="34" charset="0"/>
                <a:ea typeface="宋体" panose="02010600030101010101" pitchFamily="2" charset="-122"/>
              </a:defRPr>
            </a:lvl3pPr>
            <a:lvl4pPr marL="326263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4pPr>
            <a:lvl5pPr marL="434975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5pPr>
            <a:lvl6pPr marL="48069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52641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57213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61785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buNone/>
            </a:pPr>
            <a:r>
              <a:rPr lang="zh-CN" altLang="en-US" sz="1350" b="1" dirty="0">
                <a:latin typeface="微软雅黑" panose="020B0503020204020204" pitchFamily="34" charset="-122"/>
                <a:ea typeface="微软雅黑" panose="020B0503020204020204" pitchFamily="34" charset="-122"/>
                <a:cs typeface="Lantinghei SC Demibold" charset="-122"/>
                <a:sym typeface="时尚中黑简体" charset="0"/>
              </a:rPr>
              <a:t>因果效应分析</a:t>
            </a:r>
            <a:endParaRPr lang="en-US" altLang="zh-CN" sz="1350" b="1" dirty="0">
              <a:latin typeface="微软雅黑" panose="020B0503020204020204" pitchFamily="34" charset="-122"/>
              <a:ea typeface="微软雅黑" panose="020B0503020204020204" pitchFamily="34" charset="-122"/>
              <a:cs typeface="Lantinghei SC Demibold" charset="-122"/>
              <a:sym typeface="时尚中黑简体" charset="0"/>
            </a:endParaRPr>
          </a:p>
        </p:txBody>
      </p:sp>
    </p:spTree>
    <p:extLst>
      <p:ext uri="{BB962C8B-B14F-4D97-AF65-F5344CB8AC3E}">
        <p14:creationId xmlns:p14="http://schemas.microsoft.com/office/powerpoint/2010/main" val="147672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27">
            <a:extLst>
              <a:ext uri="{FF2B5EF4-FFF2-40B4-BE49-F238E27FC236}">
                <a16:creationId xmlns:a16="http://schemas.microsoft.com/office/drawing/2014/main" id="{075087B1-59B3-185F-CE0C-0A3A5A56CB40}"/>
              </a:ext>
            </a:extLst>
          </p:cNvPr>
          <p:cNvSpPr/>
          <p:nvPr/>
        </p:nvSpPr>
        <p:spPr>
          <a:xfrm>
            <a:off x="6563692" y="2233320"/>
            <a:ext cx="420858" cy="420858"/>
          </a:xfrm>
          <a:prstGeom prst="ellipse">
            <a:avLst/>
          </a:prstGeom>
          <a:solidFill>
            <a:srgbClr val="D792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solidFill>
                <a:schemeClr val="tx1"/>
              </a:solidFill>
              <a:latin typeface="Source Sans Pro Light" charset="0"/>
            </a:endParaRPr>
          </a:p>
        </p:txBody>
      </p:sp>
      <p:sp>
        <p:nvSpPr>
          <p:cNvPr id="5" name="Oval 31">
            <a:extLst>
              <a:ext uri="{FF2B5EF4-FFF2-40B4-BE49-F238E27FC236}">
                <a16:creationId xmlns:a16="http://schemas.microsoft.com/office/drawing/2014/main" id="{37FD8266-3898-6A88-99E7-8B64606201CF}"/>
              </a:ext>
            </a:extLst>
          </p:cNvPr>
          <p:cNvSpPr/>
          <p:nvPr/>
        </p:nvSpPr>
        <p:spPr>
          <a:xfrm>
            <a:off x="2223125" y="2233320"/>
            <a:ext cx="420858" cy="420858"/>
          </a:xfrm>
          <a:prstGeom prst="ellipse">
            <a:avLst/>
          </a:prstGeom>
          <a:solidFill>
            <a:srgbClr val="D792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solidFill>
                <a:schemeClr val="tx1"/>
              </a:solidFill>
              <a:latin typeface="Source Sans Pro Light" charset="0"/>
            </a:endParaRPr>
          </a:p>
        </p:txBody>
      </p:sp>
      <p:sp>
        <p:nvSpPr>
          <p:cNvPr id="6" name="Shape 2579">
            <a:extLst>
              <a:ext uri="{FF2B5EF4-FFF2-40B4-BE49-F238E27FC236}">
                <a16:creationId xmlns:a16="http://schemas.microsoft.com/office/drawing/2014/main" id="{DD5EFB23-F7BF-25A2-09CB-A8BB789574AB}"/>
              </a:ext>
            </a:extLst>
          </p:cNvPr>
          <p:cNvSpPr/>
          <p:nvPr/>
        </p:nvSpPr>
        <p:spPr>
          <a:xfrm>
            <a:off x="2335651" y="2330418"/>
            <a:ext cx="209496" cy="209496"/>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solidFill>
            <a:schemeClr val="bg1"/>
          </a:solidFill>
          <a:ln w="12700">
            <a:miter lim="400000"/>
          </a:ln>
        </p:spPr>
        <p:txBody>
          <a:bodyPr lIns="14284" tIns="14284" rIns="14284" bIns="14284" anchor="ctr"/>
          <a:lstStyle/>
          <a:p>
            <a:pPr defTabSz="17145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latin typeface="Source Sans Pro Light" charset="0"/>
              <a:ea typeface="Source Sans Pro Light" charset="0"/>
              <a:cs typeface="Source Sans Pro Light" charset="0"/>
            </a:endParaRPr>
          </a:p>
        </p:txBody>
      </p:sp>
      <p:sp>
        <p:nvSpPr>
          <p:cNvPr id="7" name="Shape 2629">
            <a:extLst>
              <a:ext uri="{FF2B5EF4-FFF2-40B4-BE49-F238E27FC236}">
                <a16:creationId xmlns:a16="http://schemas.microsoft.com/office/drawing/2014/main" id="{58C481BD-91EC-6F1C-5599-7A829AFF56C1}"/>
              </a:ext>
            </a:extLst>
          </p:cNvPr>
          <p:cNvSpPr/>
          <p:nvPr/>
        </p:nvSpPr>
        <p:spPr>
          <a:xfrm>
            <a:off x="6672937" y="2347462"/>
            <a:ext cx="209554" cy="209496"/>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solidFill>
            <a:schemeClr val="bg1"/>
          </a:solidFill>
          <a:ln w="12700">
            <a:miter lim="400000"/>
          </a:ln>
        </p:spPr>
        <p:txBody>
          <a:bodyPr lIns="14284" tIns="14284" rIns="14284" bIns="14284" anchor="ctr"/>
          <a:lstStyle/>
          <a:p>
            <a:pPr defTabSz="17145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latin typeface="Source Sans Pro Light" charset="0"/>
              <a:ea typeface="Source Sans Pro Light" charset="0"/>
              <a:cs typeface="Source Sans Pro Light" charset="0"/>
            </a:endParaRPr>
          </a:p>
        </p:txBody>
      </p:sp>
      <p:sp>
        <p:nvSpPr>
          <p:cNvPr id="8" name="Oval 36">
            <a:extLst>
              <a:ext uri="{FF2B5EF4-FFF2-40B4-BE49-F238E27FC236}">
                <a16:creationId xmlns:a16="http://schemas.microsoft.com/office/drawing/2014/main" id="{46253AD7-87CD-7624-11F2-21C2900AF627}"/>
              </a:ext>
            </a:extLst>
          </p:cNvPr>
          <p:cNvSpPr/>
          <p:nvPr/>
        </p:nvSpPr>
        <p:spPr>
          <a:xfrm>
            <a:off x="6567314" y="4493748"/>
            <a:ext cx="420858" cy="420858"/>
          </a:xfrm>
          <a:prstGeom prst="ellipse">
            <a:avLst/>
          </a:prstGeom>
          <a:solidFill>
            <a:srgbClr val="D792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solidFill>
                <a:schemeClr val="tx1"/>
              </a:solidFill>
              <a:latin typeface="Source Sans Pro Light" charset="0"/>
            </a:endParaRPr>
          </a:p>
        </p:txBody>
      </p:sp>
      <p:sp>
        <p:nvSpPr>
          <p:cNvPr id="9" name="Oval 41">
            <a:extLst>
              <a:ext uri="{FF2B5EF4-FFF2-40B4-BE49-F238E27FC236}">
                <a16:creationId xmlns:a16="http://schemas.microsoft.com/office/drawing/2014/main" id="{242B4437-D457-8126-0E3E-313B5150A791}"/>
              </a:ext>
            </a:extLst>
          </p:cNvPr>
          <p:cNvSpPr/>
          <p:nvPr/>
        </p:nvSpPr>
        <p:spPr>
          <a:xfrm>
            <a:off x="2223125" y="4490400"/>
            <a:ext cx="420858" cy="420858"/>
          </a:xfrm>
          <a:prstGeom prst="ellipse">
            <a:avLst/>
          </a:prstGeom>
          <a:solidFill>
            <a:srgbClr val="D792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solidFill>
                <a:schemeClr val="tx1"/>
              </a:solidFill>
              <a:latin typeface="Source Sans Pro Light" charset="0"/>
            </a:endParaRPr>
          </a:p>
        </p:txBody>
      </p:sp>
      <p:sp>
        <p:nvSpPr>
          <p:cNvPr id="10" name="Shape 2633">
            <a:extLst>
              <a:ext uri="{FF2B5EF4-FFF2-40B4-BE49-F238E27FC236}">
                <a16:creationId xmlns:a16="http://schemas.microsoft.com/office/drawing/2014/main" id="{B9FE5134-230F-D63E-139F-34C000F9FE66}"/>
              </a:ext>
            </a:extLst>
          </p:cNvPr>
          <p:cNvSpPr/>
          <p:nvPr/>
        </p:nvSpPr>
        <p:spPr>
          <a:xfrm>
            <a:off x="2335651" y="4612807"/>
            <a:ext cx="209496" cy="209496"/>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chemeClr val="bg1"/>
          </a:solidFill>
          <a:ln w="12700">
            <a:miter lim="400000"/>
          </a:ln>
        </p:spPr>
        <p:txBody>
          <a:bodyPr lIns="14284" tIns="14284" rIns="14284" bIns="14284" anchor="ctr"/>
          <a:lstStyle/>
          <a:p>
            <a:pPr defTabSz="17145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latin typeface="Source Sans Pro Light" charset="0"/>
              <a:ea typeface="Source Sans Pro Light" charset="0"/>
              <a:cs typeface="Source Sans Pro Light" charset="0"/>
            </a:endParaRPr>
          </a:p>
        </p:txBody>
      </p:sp>
      <p:sp>
        <p:nvSpPr>
          <p:cNvPr id="11" name="Shape 2840">
            <a:extLst>
              <a:ext uri="{FF2B5EF4-FFF2-40B4-BE49-F238E27FC236}">
                <a16:creationId xmlns:a16="http://schemas.microsoft.com/office/drawing/2014/main" id="{E453D84C-8AC3-413F-B54B-70C689704888}"/>
              </a:ext>
            </a:extLst>
          </p:cNvPr>
          <p:cNvSpPr/>
          <p:nvPr/>
        </p:nvSpPr>
        <p:spPr>
          <a:xfrm>
            <a:off x="6672995" y="4608952"/>
            <a:ext cx="209496" cy="190451"/>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3" y="14040"/>
                </a:cubicBezTo>
                <a:lnTo>
                  <a:pt x="20618" y="14040"/>
                </a:lnTo>
                <a:cubicBezTo>
                  <a:pt x="20618" y="14040"/>
                  <a:pt x="20618" y="20520"/>
                  <a:pt x="20618" y="20520"/>
                </a:cubicBezTo>
                <a:close/>
                <a:moveTo>
                  <a:pt x="21544" y="13261"/>
                </a:moveTo>
                <a:lnTo>
                  <a:pt x="21548" y="13259"/>
                </a:lnTo>
                <a:lnTo>
                  <a:pt x="16639" y="2459"/>
                </a:lnTo>
                <a:lnTo>
                  <a:pt x="16635" y="2461"/>
                </a:lnTo>
                <a:cubicBezTo>
                  <a:pt x="16554" y="2284"/>
                  <a:pt x="16392" y="2160"/>
                  <a:pt x="16200" y="2160"/>
                </a:cubicBezTo>
                <a:lnTo>
                  <a:pt x="15709" y="2160"/>
                </a:lnTo>
                <a:cubicBezTo>
                  <a:pt x="15438" y="2160"/>
                  <a:pt x="15218" y="2402"/>
                  <a:pt x="15218" y="2700"/>
                </a:cubicBezTo>
                <a:cubicBezTo>
                  <a:pt x="15218" y="2999"/>
                  <a:pt x="15438" y="3240"/>
                  <a:pt x="15709"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5891" y="3240"/>
                </a:lnTo>
                <a:cubicBezTo>
                  <a:pt x="6162" y="3240"/>
                  <a:pt x="6382" y="2999"/>
                  <a:pt x="6382" y="2700"/>
                </a:cubicBezTo>
                <a:cubicBezTo>
                  <a:pt x="6382" y="2402"/>
                  <a:pt x="6162" y="2160"/>
                  <a:pt x="5891"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4" y="13261"/>
                </a:cubicBezTo>
                <a:moveTo>
                  <a:pt x="7855" y="4320"/>
                </a:moveTo>
                <a:cubicBezTo>
                  <a:pt x="7990" y="4320"/>
                  <a:pt x="8113" y="4260"/>
                  <a:pt x="8202" y="4162"/>
                </a:cubicBezTo>
                <a:lnTo>
                  <a:pt x="10309" y="1844"/>
                </a:lnTo>
                <a:lnTo>
                  <a:pt x="10309" y="12420"/>
                </a:lnTo>
                <a:cubicBezTo>
                  <a:pt x="10309" y="12719"/>
                  <a:pt x="10529" y="12960"/>
                  <a:pt x="10800" y="12960"/>
                </a:cubicBezTo>
                <a:cubicBezTo>
                  <a:pt x="11071" y="12960"/>
                  <a:pt x="11291" y="12719"/>
                  <a:pt x="11291" y="12420"/>
                </a:cubicBezTo>
                <a:lnTo>
                  <a:pt x="11291" y="1844"/>
                </a:lnTo>
                <a:lnTo>
                  <a:pt x="13398" y="4162"/>
                </a:lnTo>
                <a:cubicBezTo>
                  <a:pt x="13487" y="4260"/>
                  <a:pt x="13610" y="4320"/>
                  <a:pt x="13745" y="4320"/>
                </a:cubicBezTo>
                <a:cubicBezTo>
                  <a:pt x="14017" y="4320"/>
                  <a:pt x="14236" y="4079"/>
                  <a:pt x="14236" y="3780"/>
                </a:cubicBezTo>
                <a:cubicBezTo>
                  <a:pt x="14236" y="3631"/>
                  <a:pt x="14181" y="3497"/>
                  <a:pt x="14093" y="3398"/>
                </a:cubicBezTo>
                <a:lnTo>
                  <a:pt x="11147" y="158"/>
                </a:lnTo>
                <a:cubicBezTo>
                  <a:pt x="11058" y="61"/>
                  <a:pt x="10936" y="0"/>
                  <a:pt x="10800" y="0"/>
                </a:cubicBezTo>
                <a:cubicBezTo>
                  <a:pt x="10664" y="0"/>
                  <a:pt x="10542" y="61"/>
                  <a:pt x="10453" y="158"/>
                </a:cubicBezTo>
                <a:lnTo>
                  <a:pt x="7507" y="3398"/>
                </a:lnTo>
                <a:cubicBezTo>
                  <a:pt x="7419" y="3497"/>
                  <a:pt x="7364" y="3631"/>
                  <a:pt x="7364" y="3780"/>
                </a:cubicBezTo>
                <a:cubicBezTo>
                  <a:pt x="7364" y="4079"/>
                  <a:pt x="7583" y="4320"/>
                  <a:pt x="7855" y="4320"/>
                </a:cubicBezTo>
              </a:path>
            </a:pathLst>
          </a:custGeom>
          <a:solidFill>
            <a:schemeClr val="bg1"/>
          </a:solidFill>
          <a:ln w="12700">
            <a:miter lim="400000"/>
          </a:ln>
        </p:spPr>
        <p:txBody>
          <a:bodyPr lIns="14284" tIns="14284" rIns="14284" bIns="14284" anchor="ctr"/>
          <a:lstStyle/>
          <a:p>
            <a:pPr defTabSz="17145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latin typeface="Source Sans Pro Light" charset="0"/>
              <a:ea typeface="Source Sans Pro Light" charset="0"/>
              <a:cs typeface="Source Sans Pro Light" charset="0"/>
            </a:endParaRPr>
          </a:p>
        </p:txBody>
      </p:sp>
      <p:pic>
        <p:nvPicPr>
          <p:cNvPr id="12" name="Picture 3">
            <a:extLst>
              <a:ext uri="{FF2B5EF4-FFF2-40B4-BE49-F238E27FC236}">
                <a16:creationId xmlns:a16="http://schemas.microsoft.com/office/drawing/2014/main" id="{9479685D-1599-DF76-2D17-AED175F4B3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337" y="1598457"/>
            <a:ext cx="2529424" cy="169058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a:extLst>
              <a:ext uri="{FF2B5EF4-FFF2-40B4-BE49-F238E27FC236}">
                <a16:creationId xmlns:a16="http://schemas.microsoft.com/office/drawing/2014/main" id="{306F661D-908D-F159-07FF-C226D17EB1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3337" y="3872263"/>
            <a:ext cx="2529424" cy="16905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a:extLst>
              <a:ext uri="{FF2B5EF4-FFF2-40B4-BE49-F238E27FC236}">
                <a16:creationId xmlns:a16="http://schemas.microsoft.com/office/drawing/2014/main" id="{FDCD8D0C-8428-9872-963B-849F7788DA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0433" y="1597570"/>
            <a:ext cx="2529424" cy="169058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EDCE9543-B946-5597-92A7-2372D4D93F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9036" y="3829311"/>
            <a:ext cx="2490822" cy="1664784"/>
          </a:xfrm>
          <a:prstGeom prst="rect">
            <a:avLst/>
          </a:prstGeom>
          <a:noFill/>
          <a:extLst>
            <a:ext uri="{909E8E84-426E-40DD-AFC4-6F175D3DCCD1}">
              <a14:hiddenFill xmlns:a14="http://schemas.microsoft.com/office/drawing/2010/main">
                <a:solidFill>
                  <a:srgbClr val="FFFFFF"/>
                </a:solidFill>
              </a14:hiddenFill>
            </a:ext>
          </a:extLst>
        </p:spPr>
      </p:pic>
      <p:sp>
        <p:nvSpPr>
          <p:cNvPr id="16" name="Subtitle 2">
            <a:extLst>
              <a:ext uri="{FF2B5EF4-FFF2-40B4-BE49-F238E27FC236}">
                <a16:creationId xmlns:a16="http://schemas.microsoft.com/office/drawing/2014/main" id="{531092A0-DD0D-7E90-E24C-7DDC6E9D6AB1}"/>
              </a:ext>
            </a:extLst>
          </p:cNvPr>
          <p:cNvSpPr txBox="1"/>
          <p:nvPr/>
        </p:nvSpPr>
        <p:spPr bwMode="auto">
          <a:xfrm>
            <a:off x="8093846" y="5488766"/>
            <a:ext cx="1214925" cy="3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745" tIns="54373" rIns="108745" bIns="54373">
            <a:spAutoFit/>
          </a:bodyPr>
          <a:lstStyle>
            <a:lvl1pPr defTabSz="1087755">
              <a:spcBef>
                <a:spcPct val="20000"/>
              </a:spcBef>
              <a:buChar char="•"/>
              <a:defRPr sz="3200">
                <a:solidFill>
                  <a:schemeClr val="tx1"/>
                </a:solidFill>
                <a:latin typeface="Arial" panose="020B0604020202020204" pitchFamily="34" charset="0"/>
                <a:ea typeface="宋体" panose="02010600030101010101" pitchFamily="2" charset="-122"/>
              </a:defRPr>
            </a:lvl1pPr>
            <a:lvl2pPr marL="1087755" indent="-285750" defTabSz="1087755">
              <a:spcBef>
                <a:spcPct val="20000"/>
              </a:spcBef>
              <a:buChar char="–"/>
              <a:defRPr sz="2800">
                <a:solidFill>
                  <a:schemeClr val="tx1"/>
                </a:solidFill>
                <a:latin typeface="Arial" panose="020B0604020202020204" pitchFamily="34" charset="0"/>
                <a:ea typeface="宋体" panose="02010600030101010101" pitchFamily="2" charset="-122"/>
              </a:defRPr>
            </a:lvl2pPr>
            <a:lvl3pPr marL="2174875" indent="-228600" defTabSz="1087755">
              <a:spcBef>
                <a:spcPct val="20000"/>
              </a:spcBef>
              <a:buChar char="•"/>
              <a:defRPr sz="2400">
                <a:solidFill>
                  <a:schemeClr val="tx1"/>
                </a:solidFill>
                <a:latin typeface="Arial" panose="020B0604020202020204" pitchFamily="34" charset="0"/>
                <a:ea typeface="宋体" panose="02010600030101010101" pitchFamily="2" charset="-122"/>
              </a:defRPr>
            </a:lvl3pPr>
            <a:lvl4pPr marL="326263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4pPr>
            <a:lvl5pPr marL="434975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5pPr>
            <a:lvl6pPr marL="48069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52641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57213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61785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lnSpc>
                <a:spcPct val="120000"/>
              </a:lnSpc>
              <a:buNone/>
            </a:pPr>
            <a:r>
              <a:rPr lang="en-US" altLang="zh-CN" sz="1350" b="1" dirty="0">
                <a:latin typeface="微软雅黑" panose="020B0503020204020204" pitchFamily="34" charset="-122"/>
                <a:ea typeface="微软雅黑" panose="020B0503020204020204" pitchFamily="34" charset="-122"/>
                <a:cs typeface="Lantinghei SC Demibold" charset="-122"/>
                <a:sym typeface="时尚中黑简体" charset="0"/>
              </a:rPr>
              <a:t>LSTM</a:t>
            </a:r>
            <a:r>
              <a:rPr lang="zh-CN" altLang="en-US" sz="1350" b="1" dirty="0">
                <a:latin typeface="微软雅黑" panose="020B0503020204020204" pitchFamily="34" charset="-122"/>
                <a:ea typeface="微软雅黑" panose="020B0503020204020204" pitchFamily="34" charset="-122"/>
                <a:cs typeface="Lantinghei SC Demibold" charset="-122"/>
                <a:sym typeface="时尚中黑简体" charset="0"/>
              </a:rPr>
              <a:t>√</a:t>
            </a:r>
            <a:endParaRPr lang="en-US" altLang="zh-CN" sz="1350" b="1" dirty="0">
              <a:latin typeface="微软雅黑" panose="020B0503020204020204" pitchFamily="34" charset="-122"/>
              <a:ea typeface="微软雅黑" panose="020B0503020204020204" pitchFamily="34" charset="-122"/>
              <a:cs typeface="Lantinghei SC Demibold" charset="-122"/>
              <a:sym typeface="时尚中黑简体" charset="0"/>
            </a:endParaRPr>
          </a:p>
        </p:txBody>
      </p:sp>
      <p:sp>
        <p:nvSpPr>
          <p:cNvPr id="17" name="Subtitle 2">
            <a:extLst>
              <a:ext uri="{FF2B5EF4-FFF2-40B4-BE49-F238E27FC236}">
                <a16:creationId xmlns:a16="http://schemas.microsoft.com/office/drawing/2014/main" id="{4C988739-A276-A065-108A-11D6E7970529}"/>
              </a:ext>
            </a:extLst>
          </p:cNvPr>
          <p:cNvSpPr txBox="1"/>
          <p:nvPr/>
        </p:nvSpPr>
        <p:spPr bwMode="auto">
          <a:xfrm>
            <a:off x="8093845" y="3257025"/>
            <a:ext cx="1214925" cy="3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745" tIns="54373" rIns="108745" bIns="54373">
            <a:spAutoFit/>
          </a:bodyPr>
          <a:lstStyle>
            <a:lvl1pPr defTabSz="1087755">
              <a:spcBef>
                <a:spcPct val="20000"/>
              </a:spcBef>
              <a:buChar char="•"/>
              <a:defRPr sz="3200">
                <a:solidFill>
                  <a:schemeClr val="tx1"/>
                </a:solidFill>
                <a:latin typeface="Arial" panose="020B0604020202020204" pitchFamily="34" charset="0"/>
                <a:ea typeface="宋体" panose="02010600030101010101" pitchFamily="2" charset="-122"/>
              </a:defRPr>
            </a:lvl1pPr>
            <a:lvl2pPr marL="1087755" indent="-285750" defTabSz="1087755">
              <a:spcBef>
                <a:spcPct val="20000"/>
              </a:spcBef>
              <a:buChar char="–"/>
              <a:defRPr sz="2800">
                <a:solidFill>
                  <a:schemeClr val="tx1"/>
                </a:solidFill>
                <a:latin typeface="Arial" panose="020B0604020202020204" pitchFamily="34" charset="0"/>
                <a:ea typeface="宋体" panose="02010600030101010101" pitchFamily="2" charset="-122"/>
              </a:defRPr>
            </a:lvl2pPr>
            <a:lvl3pPr marL="2174875" indent="-228600" defTabSz="1087755">
              <a:spcBef>
                <a:spcPct val="20000"/>
              </a:spcBef>
              <a:buChar char="•"/>
              <a:defRPr sz="2400">
                <a:solidFill>
                  <a:schemeClr val="tx1"/>
                </a:solidFill>
                <a:latin typeface="Arial" panose="020B0604020202020204" pitchFamily="34" charset="0"/>
                <a:ea typeface="宋体" panose="02010600030101010101" pitchFamily="2" charset="-122"/>
              </a:defRPr>
            </a:lvl3pPr>
            <a:lvl4pPr marL="326263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4pPr>
            <a:lvl5pPr marL="434975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5pPr>
            <a:lvl6pPr marL="48069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52641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57213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61785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lnSpc>
                <a:spcPct val="120000"/>
              </a:lnSpc>
              <a:buNone/>
            </a:pPr>
            <a:r>
              <a:rPr lang="en-US" altLang="zh-CN" sz="1350" b="1" dirty="0">
                <a:latin typeface="微软雅黑" panose="020B0503020204020204" pitchFamily="34" charset="-122"/>
                <a:ea typeface="微软雅黑" panose="020B0503020204020204" pitchFamily="34" charset="-122"/>
                <a:cs typeface="Lantinghei SC Demibold" charset="-122"/>
                <a:sym typeface="时尚中黑简体" charset="0"/>
              </a:rPr>
              <a:t>CNN</a:t>
            </a:r>
          </a:p>
        </p:txBody>
      </p:sp>
      <p:sp>
        <p:nvSpPr>
          <p:cNvPr id="18" name="Subtitle 2">
            <a:extLst>
              <a:ext uri="{FF2B5EF4-FFF2-40B4-BE49-F238E27FC236}">
                <a16:creationId xmlns:a16="http://schemas.microsoft.com/office/drawing/2014/main" id="{2E2C80AA-8887-601B-D25D-A2663F881693}"/>
              </a:ext>
            </a:extLst>
          </p:cNvPr>
          <p:cNvSpPr txBox="1"/>
          <p:nvPr/>
        </p:nvSpPr>
        <p:spPr bwMode="auto">
          <a:xfrm>
            <a:off x="3600586" y="3280335"/>
            <a:ext cx="1214925" cy="3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745" tIns="54373" rIns="108745" bIns="54373">
            <a:spAutoFit/>
          </a:bodyPr>
          <a:lstStyle>
            <a:lvl1pPr defTabSz="1087755">
              <a:spcBef>
                <a:spcPct val="20000"/>
              </a:spcBef>
              <a:buChar char="•"/>
              <a:defRPr sz="3200">
                <a:solidFill>
                  <a:schemeClr val="tx1"/>
                </a:solidFill>
                <a:latin typeface="Arial" panose="020B0604020202020204" pitchFamily="34" charset="0"/>
                <a:ea typeface="宋体" panose="02010600030101010101" pitchFamily="2" charset="-122"/>
              </a:defRPr>
            </a:lvl1pPr>
            <a:lvl2pPr marL="1087755" indent="-285750" defTabSz="1087755">
              <a:spcBef>
                <a:spcPct val="20000"/>
              </a:spcBef>
              <a:buChar char="–"/>
              <a:defRPr sz="2800">
                <a:solidFill>
                  <a:schemeClr val="tx1"/>
                </a:solidFill>
                <a:latin typeface="Arial" panose="020B0604020202020204" pitchFamily="34" charset="0"/>
                <a:ea typeface="宋体" panose="02010600030101010101" pitchFamily="2" charset="-122"/>
              </a:defRPr>
            </a:lvl2pPr>
            <a:lvl3pPr marL="2174875" indent="-228600" defTabSz="1087755">
              <a:spcBef>
                <a:spcPct val="20000"/>
              </a:spcBef>
              <a:buChar char="•"/>
              <a:defRPr sz="2400">
                <a:solidFill>
                  <a:schemeClr val="tx1"/>
                </a:solidFill>
                <a:latin typeface="Arial" panose="020B0604020202020204" pitchFamily="34" charset="0"/>
                <a:ea typeface="宋体" panose="02010600030101010101" pitchFamily="2" charset="-122"/>
              </a:defRPr>
            </a:lvl3pPr>
            <a:lvl4pPr marL="326263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4pPr>
            <a:lvl5pPr marL="434975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5pPr>
            <a:lvl6pPr marL="48069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52641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57213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61785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lnSpc>
                <a:spcPct val="120000"/>
              </a:lnSpc>
              <a:buNone/>
            </a:pPr>
            <a:r>
              <a:rPr lang="zh-CN" altLang="en-US" sz="1350" b="1" dirty="0">
                <a:latin typeface="微软雅黑" panose="020B0503020204020204" pitchFamily="34" charset="-122"/>
                <a:ea typeface="微软雅黑" panose="020B0503020204020204" pitchFamily="34" charset="-122"/>
                <a:cs typeface="Lantinghei SC Demibold" charset="-122"/>
                <a:sym typeface="时尚中黑简体" charset="0"/>
              </a:rPr>
              <a:t>随机森林</a:t>
            </a:r>
            <a:endParaRPr lang="en-US" altLang="zh-CN" sz="1350" b="1" dirty="0">
              <a:latin typeface="微软雅黑" panose="020B0503020204020204" pitchFamily="34" charset="-122"/>
              <a:ea typeface="微软雅黑" panose="020B0503020204020204" pitchFamily="34" charset="-122"/>
              <a:cs typeface="Lantinghei SC Demibold" charset="-122"/>
              <a:sym typeface="时尚中黑简体" charset="0"/>
            </a:endParaRPr>
          </a:p>
        </p:txBody>
      </p:sp>
      <p:sp>
        <p:nvSpPr>
          <p:cNvPr id="19" name="Subtitle 2">
            <a:extLst>
              <a:ext uri="{FF2B5EF4-FFF2-40B4-BE49-F238E27FC236}">
                <a16:creationId xmlns:a16="http://schemas.microsoft.com/office/drawing/2014/main" id="{1DF5D536-B4C5-A48F-2A39-E17873EF318E}"/>
              </a:ext>
            </a:extLst>
          </p:cNvPr>
          <p:cNvSpPr txBox="1"/>
          <p:nvPr/>
        </p:nvSpPr>
        <p:spPr bwMode="auto">
          <a:xfrm>
            <a:off x="3600586" y="5488766"/>
            <a:ext cx="1214925" cy="33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745" tIns="54373" rIns="108745" bIns="54373">
            <a:spAutoFit/>
          </a:bodyPr>
          <a:lstStyle>
            <a:lvl1pPr defTabSz="1087755">
              <a:spcBef>
                <a:spcPct val="20000"/>
              </a:spcBef>
              <a:buChar char="•"/>
              <a:defRPr sz="3200">
                <a:solidFill>
                  <a:schemeClr val="tx1"/>
                </a:solidFill>
                <a:latin typeface="Arial" panose="020B0604020202020204" pitchFamily="34" charset="0"/>
                <a:ea typeface="宋体" panose="02010600030101010101" pitchFamily="2" charset="-122"/>
              </a:defRPr>
            </a:lvl1pPr>
            <a:lvl2pPr marL="1087755" indent="-285750" defTabSz="1087755">
              <a:spcBef>
                <a:spcPct val="20000"/>
              </a:spcBef>
              <a:buChar char="–"/>
              <a:defRPr sz="2800">
                <a:solidFill>
                  <a:schemeClr val="tx1"/>
                </a:solidFill>
                <a:latin typeface="Arial" panose="020B0604020202020204" pitchFamily="34" charset="0"/>
                <a:ea typeface="宋体" panose="02010600030101010101" pitchFamily="2" charset="-122"/>
              </a:defRPr>
            </a:lvl2pPr>
            <a:lvl3pPr marL="2174875" indent="-228600" defTabSz="1087755">
              <a:spcBef>
                <a:spcPct val="20000"/>
              </a:spcBef>
              <a:buChar char="•"/>
              <a:defRPr sz="2400">
                <a:solidFill>
                  <a:schemeClr val="tx1"/>
                </a:solidFill>
                <a:latin typeface="Arial" panose="020B0604020202020204" pitchFamily="34" charset="0"/>
                <a:ea typeface="宋体" panose="02010600030101010101" pitchFamily="2" charset="-122"/>
              </a:defRPr>
            </a:lvl3pPr>
            <a:lvl4pPr marL="326263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4pPr>
            <a:lvl5pPr marL="4349750" indent="-228600" defTabSz="1087755">
              <a:spcBef>
                <a:spcPct val="20000"/>
              </a:spcBef>
              <a:buChar char="»"/>
              <a:defRPr sz="2000">
                <a:solidFill>
                  <a:schemeClr val="tx1"/>
                </a:solidFill>
                <a:latin typeface="Arial" panose="020B0604020202020204" pitchFamily="34" charset="0"/>
                <a:ea typeface="宋体" panose="02010600030101010101" pitchFamily="2" charset="-122"/>
              </a:defRPr>
            </a:lvl5pPr>
            <a:lvl6pPr marL="48069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52641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57213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6178550" indent="-228600" defTabSz="1087755"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lnSpc>
                <a:spcPct val="120000"/>
              </a:lnSpc>
              <a:buNone/>
            </a:pPr>
            <a:r>
              <a:rPr lang="zh-CN" altLang="en-US" sz="1350" b="1" dirty="0">
                <a:latin typeface="微软雅黑" panose="020B0503020204020204" pitchFamily="34" charset="-122"/>
                <a:ea typeface="微软雅黑" panose="020B0503020204020204" pitchFamily="34" charset="-122"/>
                <a:cs typeface="Lantinghei SC Demibold" charset="-122"/>
                <a:sym typeface="时尚中黑简体" charset="0"/>
              </a:rPr>
              <a:t>线性回归√</a:t>
            </a:r>
            <a:endParaRPr lang="en-US" altLang="zh-CN" sz="1350" b="1" dirty="0">
              <a:latin typeface="微软雅黑" panose="020B0503020204020204" pitchFamily="34" charset="-122"/>
              <a:ea typeface="微软雅黑" panose="020B0503020204020204" pitchFamily="34" charset="-122"/>
              <a:cs typeface="Lantinghei SC Demibold" charset="-122"/>
              <a:sym typeface="时尚中黑简体" charset="0"/>
            </a:endParaRPr>
          </a:p>
        </p:txBody>
      </p:sp>
    </p:spTree>
    <p:extLst>
      <p:ext uri="{BB962C8B-B14F-4D97-AF65-F5344CB8AC3E}">
        <p14:creationId xmlns:p14="http://schemas.microsoft.com/office/powerpoint/2010/main" val="289018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500" fill="hold"/>
                                        <p:tgtEl>
                                          <p:spTgt spid="16"/>
                                        </p:tgtEl>
                                        <p:attrNameLst>
                                          <p:attrName>ppt_w</p:attrName>
                                        </p:attrNameLst>
                                      </p:cBhvr>
                                      <p:tavLst>
                                        <p:tav tm="0">
                                          <p:val>
                                            <p:fltVal val="0"/>
                                          </p:val>
                                        </p:tav>
                                        <p:tav tm="100000">
                                          <p:val>
                                            <p:strVal val="#ppt_w"/>
                                          </p:val>
                                        </p:tav>
                                      </p:tavLst>
                                    </p:anim>
                                    <p:anim calcmode="lin" valueType="num">
                                      <p:cBhvr>
                                        <p:cTn id="48" dur="500" fill="hold"/>
                                        <p:tgtEl>
                                          <p:spTgt spid="16"/>
                                        </p:tgtEl>
                                        <p:attrNameLst>
                                          <p:attrName>ppt_h</p:attrName>
                                        </p:attrNameLst>
                                      </p:cBhvr>
                                      <p:tavLst>
                                        <p:tav tm="0">
                                          <p:val>
                                            <p:fltVal val="0"/>
                                          </p:val>
                                        </p:tav>
                                        <p:tav tm="100000">
                                          <p:val>
                                            <p:strVal val="#ppt_h"/>
                                          </p:val>
                                        </p:tav>
                                      </p:tavLst>
                                    </p:anim>
                                    <p:animEffect transition="in" filter="fade">
                                      <p:cBhvr>
                                        <p:cTn id="49" dur="500"/>
                                        <p:tgtEl>
                                          <p:spTgt spid="16"/>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p:cTn id="52" dur="500" fill="hold"/>
                                        <p:tgtEl>
                                          <p:spTgt spid="17"/>
                                        </p:tgtEl>
                                        <p:attrNameLst>
                                          <p:attrName>ppt_w</p:attrName>
                                        </p:attrNameLst>
                                      </p:cBhvr>
                                      <p:tavLst>
                                        <p:tav tm="0">
                                          <p:val>
                                            <p:fltVal val="0"/>
                                          </p:val>
                                        </p:tav>
                                        <p:tav tm="100000">
                                          <p:val>
                                            <p:strVal val="#ppt_w"/>
                                          </p:val>
                                        </p:tav>
                                      </p:tavLst>
                                    </p:anim>
                                    <p:anim calcmode="lin" valueType="num">
                                      <p:cBhvr>
                                        <p:cTn id="53" dur="500" fill="hold"/>
                                        <p:tgtEl>
                                          <p:spTgt spid="17"/>
                                        </p:tgtEl>
                                        <p:attrNameLst>
                                          <p:attrName>ppt_h</p:attrName>
                                        </p:attrNameLst>
                                      </p:cBhvr>
                                      <p:tavLst>
                                        <p:tav tm="0">
                                          <p:val>
                                            <p:fltVal val="0"/>
                                          </p:val>
                                        </p:tav>
                                        <p:tav tm="100000">
                                          <p:val>
                                            <p:strVal val="#ppt_h"/>
                                          </p:val>
                                        </p:tav>
                                      </p:tavLst>
                                    </p:anim>
                                    <p:animEffect transition="in" filter="fade">
                                      <p:cBhvr>
                                        <p:cTn id="54" dur="500"/>
                                        <p:tgtEl>
                                          <p:spTgt spid="17"/>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p:cTn id="57" dur="500" fill="hold"/>
                                        <p:tgtEl>
                                          <p:spTgt spid="18"/>
                                        </p:tgtEl>
                                        <p:attrNameLst>
                                          <p:attrName>ppt_w</p:attrName>
                                        </p:attrNameLst>
                                      </p:cBhvr>
                                      <p:tavLst>
                                        <p:tav tm="0">
                                          <p:val>
                                            <p:fltVal val="0"/>
                                          </p:val>
                                        </p:tav>
                                        <p:tav tm="100000">
                                          <p:val>
                                            <p:strVal val="#ppt_w"/>
                                          </p:val>
                                        </p:tav>
                                      </p:tavLst>
                                    </p:anim>
                                    <p:anim calcmode="lin" valueType="num">
                                      <p:cBhvr>
                                        <p:cTn id="58" dur="500" fill="hold"/>
                                        <p:tgtEl>
                                          <p:spTgt spid="18"/>
                                        </p:tgtEl>
                                        <p:attrNameLst>
                                          <p:attrName>ppt_h</p:attrName>
                                        </p:attrNameLst>
                                      </p:cBhvr>
                                      <p:tavLst>
                                        <p:tav tm="0">
                                          <p:val>
                                            <p:fltVal val="0"/>
                                          </p:val>
                                        </p:tav>
                                        <p:tav tm="100000">
                                          <p:val>
                                            <p:strVal val="#ppt_h"/>
                                          </p:val>
                                        </p:tav>
                                      </p:tavLst>
                                    </p:anim>
                                    <p:animEffect transition="in" filter="fade">
                                      <p:cBhvr>
                                        <p:cTn id="59" dur="500"/>
                                        <p:tgtEl>
                                          <p:spTgt spid="18"/>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p:cTn id="62" dur="500" fill="hold"/>
                                        <p:tgtEl>
                                          <p:spTgt spid="19"/>
                                        </p:tgtEl>
                                        <p:attrNameLst>
                                          <p:attrName>ppt_w</p:attrName>
                                        </p:attrNameLst>
                                      </p:cBhvr>
                                      <p:tavLst>
                                        <p:tav tm="0">
                                          <p:val>
                                            <p:fltVal val="0"/>
                                          </p:val>
                                        </p:tav>
                                        <p:tav tm="100000">
                                          <p:val>
                                            <p:strVal val="#ppt_w"/>
                                          </p:val>
                                        </p:tav>
                                      </p:tavLst>
                                    </p:anim>
                                    <p:anim calcmode="lin" valueType="num">
                                      <p:cBhvr>
                                        <p:cTn id="63" dur="500" fill="hold"/>
                                        <p:tgtEl>
                                          <p:spTgt spid="19"/>
                                        </p:tgtEl>
                                        <p:attrNameLst>
                                          <p:attrName>ppt_h</p:attrName>
                                        </p:attrNameLst>
                                      </p:cBhvr>
                                      <p:tavLst>
                                        <p:tav tm="0">
                                          <p:val>
                                            <p:fltVal val="0"/>
                                          </p:val>
                                        </p:tav>
                                        <p:tav tm="100000">
                                          <p:val>
                                            <p:strVal val="#ppt_h"/>
                                          </p:val>
                                        </p:tav>
                                      </p:tavLst>
                                    </p:anim>
                                    <p:animEffect transition="in" filter="fade">
                                      <p:cBhvr>
                                        <p:cTn id="6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6" grpId="0"/>
      <p:bldP spid="17" grpId="0"/>
      <p:bldP spid="18"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A78B0-5447-5BCC-21B6-B2677DA8ED5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87FDFD3-088F-3C36-BD19-7E734B5862C7}"/>
              </a:ext>
            </a:extLst>
          </p:cNvPr>
          <p:cNvSpPr txBox="1"/>
          <p:nvPr/>
        </p:nvSpPr>
        <p:spPr>
          <a:xfrm>
            <a:off x="448541" y="749956"/>
            <a:ext cx="11107881" cy="4885953"/>
          </a:xfrm>
          <a:prstGeom prst="rect">
            <a:avLst/>
          </a:prstGeom>
          <a:noFill/>
        </p:spPr>
        <p:txBody>
          <a:bodyPr wrap="square">
            <a:spAutoFit/>
          </a:bodyPr>
          <a:lstStyle/>
          <a:p>
            <a:pPr algn="just">
              <a:lnSpc>
                <a:spcPct val="173000"/>
              </a:lnSpc>
              <a:spcBef>
                <a:spcPts val="1300"/>
              </a:spcBef>
              <a:spcAft>
                <a:spcPts val="1300"/>
              </a:spcAft>
            </a:pPr>
            <a:r>
              <a:rPr lang="zh-CN" altLang="zh-CN" sz="2000" b="1" dirty="0"/>
              <a:t>最优工艺值推荐</a:t>
            </a:r>
            <a:r>
              <a:rPr lang="zh-CN" altLang="en-US" sz="2000" b="1" dirty="0"/>
              <a:t>与时间同步</a:t>
            </a:r>
            <a:endParaRPr lang="en-US" altLang="zh-CN" sz="2000" b="1" dirty="0"/>
          </a:p>
          <a:p>
            <a:pPr marL="285750" indent="-285750" algn="just">
              <a:lnSpc>
                <a:spcPct val="173000"/>
              </a:lnSpc>
              <a:spcBef>
                <a:spcPts val="1300"/>
              </a:spcBef>
              <a:spcAft>
                <a:spcPts val="1300"/>
              </a:spcAft>
              <a:buFont typeface="Arial" panose="020B0604020202020204" pitchFamily="34" charset="0"/>
              <a:buChar char="•"/>
            </a:pPr>
            <a:r>
              <a:rPr lang="zh-CN" altLang="en-US" dirty="0"/>
              <a:t>数据增强与生成：通过工艺仿真软件与大模型生成技术来生成相关数据作为模型输入。</a:t>
            </a:r>
            <a:endParaRPr lang="en-US" altLang="zh-CN" dirty="0"/>
          </a:p>
          <a:p>
            <a:pPr marL="285750" indent="-285750" algn="just">
              <a:lnSpc>
                <a:spcPct val="150000"/>
              </a:lnSpc>
              <a:buFont typeface="Arial" panose="020B0604020202020204" pitchFamily="34" charset="0"/>
              <a:buChar char="•"/>
            </a:pPr>
            <a:r>
              <a:rPr lang="zh-CN" altLang="zh-CN" dirty="0"/>
              <a:t>预测模型：使用适当的机器学习算法</a:t>
            </a:r>
            <a:r>
              <a:rPr lang="zh-CN" altLang="en-US" dirty="0"/>
              <a:t>（线性回归、</a:t>
            </a:r>
            <a:r>
              <a:rPr lang="en-US" altLang="zh-CN" dirty="0"/>
              <a:t>LSTM</a:t>
            </a:r>
            <a:r>
              <a:rPr lang="zh-CN" altLang="en-US" dirty="0"/>
              <a:t>、随机森林）</a:t>
            </a:r>
            <a:r>
              <a:rPr lang="zh-CN" altLang="zh-CN" dirty="0"/>
              <a:t>，预测</a:t>
            </a:r>
            <a:r>
              <a:rPr lang="zh-CN" altLang="en-US" dirty="0"/>
              <a:t>浇注后的扯离强度</a:t>
            </a:r>
            <a:r>
              <a:rPr lang="zh-CN" altLang="zh-CN" dirty="0"/>
              <a:t>。</a:t>
            </a:r>
          </a:p>
          <a:p>
            <a:pPr marL="285750" indent="-285750" algn="just">
              <a:lnSpc>
                <a:spcPct val="150000"/>
              </a:lnSpc>
              <a:buFont typeface="Arial" panose="020B0604020202020204" pitchFamily="34" charset="0"/>
              <a:buChar char="•"/>
            </a:pPr>
            <a:r>
              <a:rPr lang="zh-CN" altLang="zh-CN" dirty="0"/>
              <a:t>数据分析和优化：找出相关因素与最优值之间的关联</a:t>
            </a:r>
            <a:r>
              <a:rPr lang="zh-CN" altLang="en-US" dirty="0"/>
              <a:t>（因果分析、相关系数）</a:t>
            </a:r>
            <a:r>
              <a:rPr lang="zh-CN" altLang="zh-CN" dirty="0"/>
              <a:t>，优化工艺参数，以提高</a:t>
            </a:r>
            <a:r>
              <a:rPr lang="zh-CN" altLang="en-US" dirty="0"/>
              <a:t>扯离强度稳定性和居中性</a:t>
            </a:r>
            <a:r>
              <a:rPr lang="zh-CN" altLang="zh-CN" dirty="0"/>
              <a:t>。</a:t>
            </a:r>
          </a:p>
          <a:p>
            <a:pPr marL="285750" indent="-285750" algn="just">
              <a:lnSpc>
                <a:spcPct val="150000"/>
              </a:lnSpc>
              <a:buFont typeface="Arial" panose="020B0604020202020204" pitchFamily="34" charset="0"/>
              <a:buChar char="•"/>
            </a:pPr>
            <a:r>
              <a:rPr lang="zh-CN" altLang="zh-CN" dirty="0"/>
              <a:t>智能辅助决策：根据预测模型和数据分析结果，为操作人员提供最优的设定建议。比如根据当前的工艺参数和生产情况，推荐最佳的</a:t>
            </a:r>
            <a:r>
              <a:rPr lang="zh-CN" altLang="en-US" dirty="0"/>
              <a:t>温度</a:t>
            </a:r>
            <a:r>
              <a:rPr lang="zh-CN" altLang="zh-CN" dirty="0"/>
              <a:t>设定、</a:t>
            </a:r>
            <a:r>
              <a:rPr lang="zh-CN" altLang="en-US" dirty="0"/>
              <a:t>加热</a:t>
            </a:r>
            <a:r>
              <a:rPr lang="zh-CN" altLang="zh-CN" dirty="0"/>
              <a:t>间隔以及</a:t>
            </a:r>
            <a:r>
              <a:rPr lang="zh-CN" altLang="en-US" dirty="0"/>
              <a:t>加热时长</a:t>
            </a:r>
            <a:r>
              <a:rPr lang="zh-CN" altLang="zh-CN" dirty="0"/>
              <a:t>，以达到</a:t>
            </a:r>
            <a:r>
              <a:rPr lang="zh-CN" altLang="en-US" dirty="0"/>
              <a:t>目标温度在时间上同步</a:t>
            </a:r>
            <a:r>
              <a:rPr lang="zh-CN" altLang="zh-CN" dirty="0"/>
              <a:t>。</a:t>
            </a:r>
          </a:p>
          <a:p>
            <a:pPr marL="285750" indent="-285750" algn="just">
              <a:lnSpc>
                <a:spcPct val="150000"/>
              </a:lnSpc>
              <a:buFont typeface="Arial" panose="020B0604020202020204" pitchFamily="34" charset="0"/>
              <a:buChar char="•"/>
            </a:pPr>
            <a:r>
              <a:rPr lang="zh-CN" altLang="zh-CN" dirty="0"/>
              <a:t>接口友好性：提供直观、易用的用户界面，以便操作人员能够方便地输入和获取数据，并接收最优值推荐的结果。界面可以包括图表展示、参数设置和交互式操作等功能，使操作人员能够直观地理解和应用推荐结果。</a:t>
            </a:r>
          </a:p>
        </p:txBody>
      </p:sp>
    </p:spTree>
    <p:extLst>
      <p:ext uri="{BB962C8B-B14F-4D97-AF65-F5344CB8AC3E}">
        <p14:creationId xmlns:p14="http://schemas.microsoft.com/office/powerpoint/2010/main" val="164918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基于随机森林和改进竞争群算法</a:t>
            </a:r>
          </a:p>
        </p:txBody>
      </p:sp>
      <p:sp>
        <p:nvSpPr>
          <p:cNvPr id="5" name="文本框 4">
            <a:extLst>
              <a:ext uri="{FF2B5EF4-FFF2-40B4-BE49-F238E27FC236}">
                <a16:creationId xmlns:a16="http://schemas.microsoft.com/office/drawing/2014/main" id="{E16A37B6-606E-0D5D-0176-8B2C40C9C55F}"/>
              </a:ext>
            </a:extLst>
          </p:cNvPr>
          <p:cNvSpPr txBox="1"/>
          <p:nvPr/>
        </p:nvSpPr>
        <p:spPr>
          <a:xfrm>
            <a:off x="1416050" y="1736060"/>
            <a:ext cx="9413315" cy="1754326"/>
          </a:xfrm>
          <a:prstGeom prst="rect">
            <a:avLst/>
          </a:prstGeom>
          <a:noFill/>
        </p:spPr>
        <p:txBody>
          <a:bodyPr wrap="square">
            <a:spAutoFit/>
          </a:bodyPr>
          <a:lstStyle/>
          <a:p>
            <a:pPr marL="342900" indent="-342900">
              <a:buAutoNum type="arabicPeriod"/>
            </a:pPr>
            <a:r>
              <a:rPr lang="en-US" altLang="zh-CN" b="0" i="0" dirty="0">
                <a:effectLst/>
                <a:latin typeface="Söhne"/>
              </a:rPr>
              <a:t>Random Forest</a:t>
            </a:r>
            <a:r>
              <a:rPr lang="zh-CN" altLang="en-US" b="0" i="0" dirty="0">
                <a:effectLst/>
                <a:latin typeface="Söhne"/>
              </a:rPr>
              <a:t>算法是一个包含多个决策树的分类器，属于集成学习中的 </a:t>
            </a:r>
            <a:r>
              <a:rPr lang="en-US" altLang="zh-CN" b="0" i="0" dirty="0">
                <a:effectLst/>
                <a:latin typeface="Söhne"/>
              </a:rPr>
              <a:t>Bagging</a:t>
            </a:r>
            <a:r>
              <a:rPr lang="zh-CN" altLang="en-US" b="0" i="0" dirty="0">
                <a:effectLst/>
                <a:latin typeface="Söhne"/>
              </a:rPr>
              <a:t>算法，即  </a:t>
            </a:r>
            <a:endParaRPr lang="en-US" altLang="zh-CN" b="0" i="0" dirty="0">
              <a:effectLst/>
              <a:latin typeface="Söhne"/>
            </a:endParaRPr>
          </a:p>
          <a:p>
            <a:r>
              <a:rPr lang="en-US" altLang="zh-CN" b="0" i="0" dirty="0">
                <a:effectLst/>
                <a:latin typeface="Söhne"/>
              </a:rPr>
              <a:t>      </a:t>
            </a:r>
            <a:r>
              <a:rPr lang="zh-CN" altLang="en-US" b="0" i="0" dirty="0">
                <a:effectLst/>
                <a:latin typeface="Söhne"/>
              </a:rPr>
              <a:t>每个决策树模型相互独立， 相互平行。</a:t>
            </a:r>
            <a:endParaRPr lang="en-US" altLang="zh-CN" b="0" i="0" dirty="0">
              <a:effectLst/>
              <a:latin typeface="Söhne"/>
            </a:endParaRPr>
          </a:p>
          <a:p>
            <a:endParaRPr lang="en-US" altLang="zh-CN" b="0" i="0" dirty="0">
              <a:effectLst/>
              <a:latin typeface="Söhne"/>
            </a:endParaRPr>
          </a:p>
          <a:p>
            <a:pPr marL="342900" indent="-342900">
              <a:buAutoNum type="arabicPeriod" startAt="2"/>
            </a:pPr>
            <a:r>
              <a:rPr lang="zh-CN" altLang="en-US" dirty="0">
                <a:latin typeface="Söhne"/>
              </a:rPr>
              <a:t>竞争群算法与粒子群算法不同的是该算法在更新粒子时既不涉及粒子的个体极值，也不  </a:t>
            </a:r>
            <a:endParaRPr lang="en-US" altLang="zh-CN" dirty="0">
              <a:latin typeface="Söhne"/>
            </a:endParaRPr>
          </a:p>
          <a:p>
            <a:r>
              <a:rPr lang="en-US" altLang="zh-CN" dirty="0">
                <a:latin typeface="Söhne"/>
              </a:rPr>
              <a:t>       </a:t>
            </a:r>
            <a:r>
              <a:rPr lang="zh-CN" altLang="en-US" dirty="0">
                <a:latin typeface="Söhne"/>
              </a:rPr>
              <a:t>涉及全局极值，而是引入成对竞争机制，竞争失败的粒子通过向获胜粒子学习以更新其  </a:t>
            </a:r>
            <a:endParaRPr lang="en-US" altLang="zh-CN" dirty="0">
              <a:latin typeface="Söhne"/>
            </a:endParaRPr>
          </a:p>
          <a:p>
            <a:r>
              <a:rPr lang="en-US" altLang="zh-CN" dirty="0">
                <a:latin typeface="Söhne"/>
              </a:rPr>
              <a:t>       </a:t>
            </a:r>
            <a:r>
              <a:rPr lang="zh-CN" altLang="en-US" dirty="0">
                <a:latin typeface="Söhne"/>
              </a:rPr>
              <a:t>位置。</a:t>
            </a:r>
          </a:p>
        </p:txBody>
      </p:sp>
      <p:pic>
        <p:nvPicPr>
          <p:cNvPr id="14" name="图片 13">
            <a:extLst>
              <a:ext uri="{FF2B5EF4-FFF2-40B4-BE49-F238E27FC236}">
                <a16:creationId xmlns:a16="http://schemas.microsoft.com/office/drawing/2014/main" id="{4D698CFB-C7B5-D54C-E7F2-CB014CB10315}"/>
              </a:ext>
            </a:extLst>
          </p:cNvPr>
          <p:cNvPicPr>
            <a:picLocks noChangeAspect="1"/>
          </p:cNvPicPr>
          <p:nvPr/>
        </p:nvPicPr>
        <p:blipFill rotWithShape="1">
          <a:blip r:embed="rId2"/>
          <a:srcRect l="1227" t="-3695" r="4090" b="3695"/>
          <a:stretch/>
        </p:blipFill>
        <p:spPr>
          <a:xfrm>
            <a:off x="1127125" y="3345037"/>
            <a:ext cx="4249643" cy="2764376"/>
          </a:xfrm>
          <a:prstGeom prst="rect">
            <a:avLst/>
          </a:prstGeom>
        </p:spPr>
      </p:pic>
      <p:pic>
        <p:nvPicPr>
          <p:cNvPr id="16" name="图片 15">
            <a:extLst>
              <a:ext uri="{FF2B5EF4-FFF2-40B4-BE49-F238E27FC236}">
                <a16:creationId xmlns:a16="http://schemas.microsoft.com/office/drawing/2014/main" id="{90C73E8B-9ACC-9D17-A537-F427F617940F}"/>
              </a:ext>
            </a:extLst>
          </p:cNvPr>
          <p:cNvPicPr>
            <a:picLocks noChangeAspect="1"/>
          </p:cNvPicPr>
          <p:nvPr/>
        </p:nvPicPr>
        <p:blipFill>
          <a:blip r:embed="rId3"/>
          <a:stretch>
            <a:fillRect/>
          </a:stretch>
        </p:blipFill>
        <p:spPr>
          <a:xfrm>
            <a:off x="5884420" y="3590171"/>
            <a:ext cx="4944945" cy="2274108"/>
          </a:xfrm>
          <a:prstGeom prst="rect">
            <a:avLst/>
          </a:prstGeom>
        </p:spPr>
      </p:pic>
      <p:sp>
        <p:nvSpPr>
          <p:cNvPr id="17" name="ïṧḷiḑê">
            <a:extLst>
              <a:ext uri="{FF2B5EF4-FFF2-40B4-BE49-F238E27FC236}">
                <a16:creationId xmlns:a16="http://schemas.microsoft.com/office/drawing/2014/main" id="{EFD9FD8E-C399-0500-5AE0-5E6456B570FE}"/>
              </a:ext>
            </a:extLst>
          </p:cNvPr>
          <p:cNvSpPr txBox="1"/>
          <p:nvPr/>
        </p:nvSpPr>
        <p:spPr bwMode="auto">
          <a:xfrm>
            <a:off x="2205538" y="6190616"/>
            <a:ext cx="1604462" cy="313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en-US" altLang="zh-CN" sz="1050" dirty="0">
                <a:latin typeface="Söhne"/>
              </a:rPr>
              <a:t>Random Forest</a:t>
            </a:r>
            <a:r>
              <a:rPr lang="zh-CN" altLang="en-US" sz="1050" dirty="0">
                <a:latin typeface="Söhne"/>
              </a:rPr>
              <a:t>算法原理</a:t>
            </a:r>
            <a:endParaRPr lang="en-US" altLang="zh-CN" sz="1050" b="1" dirty="0"/>
          </a:p>
        </p:txBody>
      </p:sp>
      <p:sp>
        <p:nvSpPr>
          <p:cNvPr id="18" name="ïṧḷiḑê">
            <a:extLst>
              <a:ext uri="{FF2B5EF4-FFF2-40B4-BE49-F238E27FC236}">
                <a16:creationId xmlns:a16="http://schemas.microsoft.com/office/drawing/2014/main" id="{72E7AC5B-5A8A-1FF6-A245-04FCA8CBB2EB}"/>
              </a:ext>
            </a:extLst>
          </p:cNvPr>
          <p:cNvSpPr txBox="1"/>
          <p:nvPr/>
        </p:nvSpPr>
        <p:spPr bwMode="auto">
          <a:xfrm>
            <a:off x="8100392" y="6109413"/>
            <a:ext cx="1604462" cy="313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sz="1050" dirty="0">
                <a:latin typeface="Söhne"/>
              </a:rPr>
              <a:t>竞争群算法原理</a:t>
            </a:r>
            <a:endParaRPr lang="en-US" altLang="zh-CN" sz="1050" b="1" dirty="0"/>
          </a:p>
        </p:txBody>
      </p:sp>
    </p:spTree>
    <p:extLst>
      <p:ext uri="{BB962C8B-B14F-4D97-AF65-F5344CB8AC3E}">
        <p14:creationId xmlns:p14="http://schemas.microsoft.com/office/powerpoint/2010/main" val="1696415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A9A168D2-959E-8089-E3B0-006CF6BE23B0}"/>
              </a:ext>
            </a:extLst>
          </p:cNvPr>
          <p:cNvGraphicFramePr>
            <a:graphicFrameLocks noGrp="1"/>
          </p:cNvGraphicFramePr>
          <p:nvPr>
            <p:extLst>
              <p:ext uri="{D42A27DB-BD31-4B8C-83A1-F6EECF244321}">
                <p14:modId xmlns:p14="http://schemas.microsoft.com/office/powerpoint/2010/main" val="1754449953"/>
              </p:ext>
            </p:extLst>
          </p:nvPr>
        </p:nvGraphicFramePr>
        <p:xfrm>
          <a:off x="1095374" y="2463800"/>
          <a:ext cx="10344151" cy="500380"/>
        </p:xfrm>
        <a:graphic>
          <a:graphicData uri="http://schemas.openxmlformats.org/drawingml/2006/table">
            <a:tbl>
              <a:tblPr>
                <a:tableStyleId>{5C22544A-7EE6-4342-B048-85BDC9FD1C3A}</a:tableStyleId>
              </a:tblPr>
              <a:tblGrid>
                <a:gridCol w="795704">
                  <a:extLst>
                    <a:ext uri="{9D8B030D-6E8A-4147-A177-3AD203B41FA5}">
                      <a16:colId xmlns:a16="http://schemas.microsoft.com/office/drawing/2014/main" val="3618856849"/>
                    </a:ext>
                  </a:extLst>
                </a:gridCol>
                <a:gridCol w="795704">
                  <a:extLst>
                    <a:ext uri="{9D8B030D-6E8A-4147-A177-3AD203B41FA5}">
                      <a16:colId xmlns:a16="http://schemas.microsoft.com/office/drawing/2014/main" val="3365516334"/>
                    </a:ext>
                  </a:extLst>
                </a:gridCol>
                <a:gridCol w="795704">
                  <a:extLst>
                    <a:ext uri="{9D8B030D-6E8A-4147-A177-3AD203B41FA5}">
                      <a16:colId xmlns:a16="http://schemas.microsoft.com/office/drawing/2014/main" val="2450144154"/>
                    </a:ext>
                  </a:extLst>
                </a:gridCol>
                <a:gridCol w="795704">
                  <a:extLst>
                    <a:ext uri="{9D8B030D-6E8A-4147-A177-3AD203B41FA5}">
                      <a16:colId xmlns:a16="http://schemas.microsoft.com/office/drawing/2014/main" val="3771560738"/>
                    </a:ext>
                  </a:extLst>
                </a:gridCol>
                <a:gridCol w="795704">
                  <a:extLst>
                    <a:ext uri="{9D8B030D-6E8A-4147-A177-3AD203B41FA5}">
                      <a16:colId xmlns:a16="http://schemas.microsoft.com/office/drawing/2014/main" val="2164471691"/>
                    </a:ext>
                  </a:extLst>
                </a:gridCol>
                <a:gridCol w="795704">
                  <a:extLst>
                    <a:ext uri="{9D8B030D-6E8A-4147-A177-3AD203B41FA5}">
                      <a16:colId xmlns:a16="http://schemas.microsoft.com/office/drawing/2014/main" val="29299031"/>
                    </a:ext>
                  </a:extLst>
                </a:gridCol>
                <a:gridCol w="795704">
                  <a:extLst>
                    <a:ext uri="{9D8B030D-6E8A-4147-A177-3AD203B41FA5}">
                      <a16:colId xmlns:a16="http://schemas.microsoft.com/office/drawing/2014/main" val="2038203462"/>
                    </a:ext>
                  </a:extLst>
                </a:gridCol>
                <a:gridCol w="795704">
                  <a:extLst>
                    <a:ext uri="{9D8B030D-6E8A-4147-A177-3AD203B41FA5}">
                      <a16:colId xmlns:a16="http://schemas.microsoft.com/office/drawing/2014/main" val="3230301518"/>
                    </a:ext>
                  </a:extLst>
                </a:gridCol>
                <a:gridCol w="795704">
                  <a:extLst>
                    <a:ext uri="{9D8B030D-6E8A-4147-A177-3AD203B41FA5}">
                      <a16:colId xmlns:a16="http://schemas.microsoft.com/office/drawing/2014/main" val="3015361001"/>
                    </a:ext>
                  </a:extLst>
                </a:gridCol>
                <a:gridCol w="795704">
                  <a:extLst>
                    <a:ext uri="{9D8B030D-6E8A-4147-A177-3AD203B41FA5}">
                      <a16:colId xmlns:a16="http://schemas.microsoft.com/office/drawing/2014/main" val="2804643811"/>
                    </a:ext>
                  </a:extLst>
                </a:gridCol>
                <a:gridCol w="795704">
                  <a:extLst>
                    <a:ext uri="{9D8B030D-6E8A-4147-A177-3AD203B41FA5}">
                      <a16:colId xmlns:a16="http://schemas.microsoft.com/office/drawing/2014/main" val="3085027894"/>
                    </a:ext>
                  </a:extLst>
                </a:gridCol>
                <a:gridCol w="666087">
                  <a:extLst>
                    <a:ext uri="{9D8B030D-6E8A-4147-A177-3AD203B41FA5}">
                      <a16:colId xmlns:a16="http://schemas.microsoft.com/office/drawing/2014/main" val="3785207388"/>
                    </a:ext>
                  </a:extLst>
                </a:gridCol>
                <a:gridCol w="925320">
                  <a:extLst>
                    <a:ext uri="{9D8B030D-6E8A-4147-A177-3AD203B41FA5}">
                      <a16:colId xmlns:a16="http://schemas.microsoft.com/office/drawing/2014/main" val="1799031482"/>
                    </a:ext>
                  </a:extLst>
                </a:gridCol>
              </a:tblGrid>
              <a:tr h="184150">
                <a:tc>
                  <a:txBody>
                    <a:bodyPr/>
                    <a:lstStyle/>
                    <a:p>
                      <a:pPr algn="ctr" fontAlgn="ctr">
                        <a:buNone/>
                      </a:pPr>
                      <a:r>
                        <a:rPr lang="en-US" sz="1600" u="none" strike="noStrike" dirty="0">
                          <a:effectLst/>
                        </a:rPr>
                        <a:t>0.66</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0.58</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0.56</a:t>
                      </a:r>
                      <a:endParaRPr lang="zh-CN" sz="1600" b="1"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0.69</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0.66</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0.79</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0.68</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dirty="0">
                          <a:effectLst/>
                        </a:rPr>
                        <a:t>0.67</a:t>
                      </a:r>
                      <a:endParaRPr lang="zh-CN" sz="16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0.62</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0.81</a:t>
                      </a:r>
                      <a:endParaRPr lang="zh-CN" sz="1600" b="1"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0.79</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0.67</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buNone/>
                      </a:pPr>
                      <a:r>
                        <a:rPr lang="en-US" altLang="zh-CN" sz="1600" b="1" kern="100" dirty="0">
                          <a:solidFill>
                            <a:srgbClr val="FF0000"/>
                          </a:solidFill>
                          <a:effectLst/>
                          <a:latin typeface="等线" panose="02010600030101010101" pitchFamily="2" charset="-122"/>
                          <a:ea typeface="+mn-ea"/>
                          <a:cs typeface="Times New Roman" panose="02020603050405020304" pitchFamily="18" charset="0"/>
                        </a:rPr>
                        <a:t>0.0647</a:t>
                      </a:r>
                      <a:endParaRPr lang="zh-CN" sz="16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3435776657"/>
                  </a:ext>
                </a:extLst>
              </a:tr>
              <a:tr h="184150">
                <a:tc>
                  <a:txBody>
                    <a:bodyPr/>
                    <a:lstStyle/>
                    <a:p>
                      <a:pPr algn="ctr" fontAlgn="ctr">
                        <a:buNone/>
                      </a:pPr>
                      <a:r>
                        <a:rPr lang="en-US" sz="1600" u="none" strike="noStrike">
                          <a:effectLst/>
                        </a:rPr>
                        <a:t>0.49</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0.51</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0.51</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0.48</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0.46</a:t>
                      </a:r>
                      <a:endParaRPr lang="zh-CN" sz="1600" b="1"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0.54</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0.54</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0.54</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0.6</a:t>
                      </a:r>
                      <a:endParaRPr lang="zh-CN" sz="1600" b="1"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0.58</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buNone/>
                      </a:pPr>
                      <a:r>
                        <a:rPr lang="en-US" sz="1600" u="none" strike="noStrike">
                          <a:effectLst/>
                        </a:rPr>
                        <a:t>0.57</a:t>
                      </a:r>
                      <a:endParaRPr lang="zh-CN" sz="16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buNone/>
                      </a:pPr>
                      <a:r>
                        <a:rPr lang="en-US" altLang="zh-CN" sz="1600" b="1" kern="100" dirty="0">
                          <a:solidFill>
                            <a:srgbClr val="FF0000"/>
                          </a:solidFill>
                          <a:effectLst/>
                          <a:latin typeface="等线" panose="02010600030101010101" pitchFamily="2" charset="-122"/>
                          <a:ea typeface="+mn-ea"/>
                          <a:cs typeface="Times New Roman" panose="02020603050405020304" pitchFamily="18" charset="0"/>
                        </a:rPr>
                        <a:t>0.0379</a:t>
                      </a:r>
                      <a:endParaRPr lang="zh-CN" sz="16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2879020753"/>
                  </a:ext>
                </a:extLst>
              </a:tr>
            </a:tbl>
          </a:graphicData>
        </a:graphic>
      </p:graphicFrame>
      <p:sp>
        <p:nvSpPr>
          <p:cNvPr id="8" name="文本框 7">
            <a:extLst>
              <a:ext uri="{FF2B5EF4-FFF2-40B4-BE49-F238E27FC236}">
                <a16:creationId xmlns:a16="http://schemas.microsoft.com/office/drawing/2014/main" id="{077BA334-E7A4-B1FF-BEDD-CCF5476CEE2C}"/>
              </a:ext>
            </a:extLst>
          </p:cNvPr>
          <p:cNvSpPr txBox="1"/>
          <p:nvPr/>
        </p:nvSpPr>
        <p:spPr>
          <a:xfrm>
            <a:off x="971549" y="3327738"/>
            <a:ext cx="10601325" cy="1477328"/>
          </a:xfrm>
          <a:prstGeom prst="rect">
            <a:avLst/>
          </a:prstGeom>
          <a:noFill/>
        </p:spPr>
        <p:txBody>
          <a:bodyPr wrap="square">
            <a:spAutoFit/>
          </a:bodyPr>
          <a:lstStyle/>
          <a:p>
            <a:r>
              <a:rPr lang="zh-CN" altLang="zh-CN" sz="1800" kern="100" dirty="0">
                <a:effectLst/>
                <a:ea typeface="仿宋" panose="02010609060101010101" pitchFamily="49" charset="-122"/>
                <a:cs typeface="Times New Roman" panose="02020603050405020304" pitchFamily="18" charset="0"/>
              </a:rPr>
              <a:t>声发射</a:t>
            </a:r>
            <a:r>
              <a:rPr lang="en-US" altLang="zh-CN" sz="1800" kern="100" dirty="0">
                <a:effectLst/>
                <a:ea typeface="仿宋" panose="02010609060101010101" pitchFamily="49" charset="-122"/>
                <a:cs typeface="Times New Roman" panose="02020603050405020304" pitchFamily="18" charset="0"/>
              </a:rPr>
              <a:t> (AE)</a:t>
            </a:r>
            <a:br>
              <a:rPr lang="en-US" altLang="zh-CN" sz="1800" kern="100" dirty="0">
                <a:effectLst/>
                <a:ea typeface="仿宋" panose="02010609060101010101" pitchFamily="49" charset="-122"/>
                <a:cs typeface="Times New Roman" panose="02020603050405020304" pitchFamily="18" charset="0"/>
              </a:rPr>
            </a:br>
            <a:r>
              <a:rPr lang="en-US" altLang="zh-CN" sz="1800" kern="100" dirty="0">
                <a:effectLst/>
                <a:ea typeface="仿宋" panose="02010609060101010101" pitchFamily="49" charset="-122"/>
                <a:cs typeface="Times New Roman" panose="02020603050405020304" pitchFamily="18" charset="0"/>
              </a:rPr>
              <a:t>AE </a:t>
            </a:r>
            <a:r>
              <a:rPr lang="zh-CN" altLang="zh-CN" sz="1800" kern="100" dirty="0">
                <a:effectLst/>
                <a:ea typeface="仿宋" panose="02010609060101010101" pitchFamily="49" charset="-122"/>
                <a:cs typeface="Times New Roman" panose="02020603050405020304" pitchFamily="18" charset="0"/>
              </a:rPr>
              <a:t>技术监测胶接试样在应力作用下的声波发射。在</a:t>
            </a:r>
            <a:r>
              <a:rPr lang="en-US" altLang="zh-CN" sz="1800" kern="100" dirty="0">
                <a:effectLst/>
                <a:ea typeface="仿宋" panose="02010609060101010101" pitchFamily="49" charset="-122"/>
                <a:cs typeface="Times New Roman" panose="02020603050405020304" pitchFamily="18" charset="0"/>
              </a:rPr>
              <a:t> AE </a:t>
            </a:r>
            <a:r>
              <a:rPr lang="zh-CN" altLang="zh-CN" sz="1800" kern="100" dirty="0">
                <a:effectLst/>
                <a:ea typeface="仿宋" panose="02010609060101010101" pitchFamily="49" charset="-122"/>
                <a:cs typeface="Times New Roman" panose="02020603050405020304" pitchFamily="18" charset="0"/>
              </a:rPr>
              <a:t>试验中，胶接试样放置在声发射传感器附近，记录试样的声发射信号。通过分析声发射信号的幅度、频率和能量分布，可以获得胶粘剂界面缺陷、裂纹扩展和失效过程的实时信息。</a:t>
            </a:r>
            <a:br>
              <a:rPr lang="en-US" altLang="zh-CN" sz="1800" kern="100" dirty="0">
                <a:effectLst/>
                <a:ea typeface="仿宋" panose="02010609060101010101" pitchFamily="49" charset="-122"/>
                <a:cs typeface="Times New Roman" panose="02020603050405020304" pitchFamily="18" charset="0"/>
              </a:rPr>
            </a:br>
            <a:endParaRPr lang="zh-CN" altLang="en-US" dirty="0"/>
          </a:p>
        </p:txBody>
      </p:sp>
    </p:spTree>
    <p:extLst>
      <p:ext uri="{BB962C8B-B14F-4D97-AF65-F5344CB8AC3E}">
        <p14:creationId xmlns:p14="http://schemas.microsoft.com/office/powerpoint/2010/main" val="2817322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A0977-1C80-CD01-8112-A064FCAE085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AA0DB30-8AD9-2029-B254-A390487F1809}"/>
              </a:ext>
            </a:extLst>
          </p:cNvPr>
          <p:cNvSpPr txBox="1"/>
          <p:nvPr/>
        </p:nvSpPr>
        <p:spPr>
          <a:xfrm>
            <a:off x="1283277" y="1987880"/>
            <a:ext cx="10323368" cy="1123449"/>
          </a:xfrm>
          <a:prstGeom prst="rect">
            <a:avLst/>
          </a:prstGeom>
          <a:noFill/>
        </p:spPr>
        <p:txBody>
          <a:bodyPr wrap="square">
            <a:spAutoFit/>
          </a:bodyPr>
          <a:lstStyle/>
          <a:p>
            <a:pPr lvl="0">
              <a:lnSpc>
                <a:spcPct val="200000"/>
              </a:lnSpc>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最优值推荐准确率：根据推荐的最优值和设定该最优值之后的效果量化评判，例如推荐设定</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温度设定、加热时间</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，预估其他条件不变的前提下，</a:t>
            </a:r>
            <a:r>
              <a:rPr lang="zh-CN" altLang="en-US" sz="1800" kern="100" dirty="0">
                <a:effectLst/>
                <a:latin typeface="DengXian" panose="02010600030101010101" pitchFamily="2" charset="-122"/>
                <a:ea typeface="DengXian" panose="02010600030101010101" pitchFamily="2" charset="-122"/>
                <a:cs typeface="Times New Roman" panose="02020603050405020304" pitchFamily="18" charset="0"/>
              </a:rPr>
              <a:t>抗拉强度稳定在</a:t>
            </a:r>
            <a:r>
              <a:rPr lang="en-US" altLang="zh-CN" kern="100" dirty="0">
                <a:latin typeface="DengXian" panose="02010600030101010101" pitchFamily="2" charset="-122"/>
                <a:ea typeface="DengXian" panose="02010600030101010101" pitchFamily="2" charset="-122"/>
                <a:cs typeface="Times New Roman" panose="02020603050405020304" pitchFamily="18" charset="0"/>
              </a:rPr>
              <a:t>0.7</a:t>
            </a:r>
            <a:r>
              <a:rPr lang="zh-CN" altLang="en-US" kern="100" dirty="0">
                <a:latin typeface="DengXian" panose="02010600030101010101" pitchFamily="2" charset="-122"/>
                <a:ea typeface="DengXian" panose="02010600030101010101" pitchFamily="2" charset="-122"/>
                <a:cs typeface="Times New Roman" panose="02020603050405020304" pitchFamily="18" charset="0"/>
              </a:rPr>
              <a:t>，方差控制在</a:t>
            </a:r>
            <a:r>
              <a:rPr lang="en-US" altLang="zh-CN" kern="100" dirty="0">
                <a:latin typeface="DengXian" panose="02010600030101010101" pitchFamily="2" charset="-122"/>
                <a:ea typeface="DengXian" panose="02010600030101010101" pitchFamily="2" charset="-122"/>
                <a:cs typeface="Times New Roman" panose="02020603050405020304" pitchFamily="18" charset="0"/>
              </a:rPr>
              <a:t>0.0025</a:t>
            </a:r>
            <a:r>
              <a:rPr lang="zh-CN" altLang="en-US" kern="100" dirty="0">
                <a:latin typeface="DengXian" panose="02010600030101010101" pitchFamily="2" charset="-122"/>
                <a:ea typeface="DengXian" panose="02010600030101010101" pitchFamily="2" charset="-122"/>
                <a:cs typeface="Times New Roman" panose="02020603050405020304" pitchFamily="18" charset="0"/>
              </a:rPr>
              <a:t>（标准差</a:t>
            </a:r>
            <a:r>
              <a:rPr lang="en-US" altLang="zh-CN" kern="100" dirty="0">
                <a:latin typeface="DengXian" panose="02010600030101010101" pitchFamily="2" charset="-122"/>
                <a:ea typeface="DengXian" panose="02010600030101010101" pitchFamily="2" charset="-122"/>
                <a:cs typeface="Times New Roman" panose="02020603050405020304" pitchFamily="18" charset="0"/>
              </a:rPr>
              <a:t>0.05</a:t>
            </a:r>
            <a:r>
              <a:rPr lang="zh-CN" altLang="en-US" kern="100" dirty="0">
                <a:latin typeface="DengXian" panose="02010600030101010101" pitchFamily="2" charset="-122"/>
                <a:ea typeface="DengXian" panose="02010600030101010101" pitchFamily="2" charset="-122"/>
                <a:cs typeface="Times New Roman" panose="02020603050405020304" pitchFamily="18" charset="0"/>
              </a:rPr>
              <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p>
        </p:txBody>
      </p:sp>
      <p:sp>
        <p:nvSpPr>
          <p:cNvPr id="5" name="文本框 4">
            <a:extLst>
              <a:ext uri="{FF2B5EF4-FFF2-40B4-BE49-F238E27FC236}">
                <a16:creationId xmlns:a16="http://schemas.microsoft.com/office/drawing/2014/main" id="{81A6BF39-F8DE-8E13-5386-5700AB44DF9A}"/>
              </a:ext>
            </a:extLst>
          </p:cNvPr>
          <p:cNvSpPr txBox="1"/>
          <p:nvPr/>
        </p:nvSpPr>
        <p:spPr>
          <a:xfrm>
            <a:off x="441614" y="407615"/>
            <a:ext cx="6099462" cy="369332"/>
          </a:xfrm>
          <a:prstGeom prst="rect">
            <a:avLst/>
          </a:prstGeom>
          <a:noFill/>
        </p:spPr>
        <p:txBody>
          <a:bodyPr wrap="square">
            <a:spAutoFit/>
          </a:bodyPr>
          <a:lstStyle/>
          <a:p>
            <a:r>
              <a:rPr lang="zh-CN" altLang="zh-CN" sz="1800" dirty="0">
                <a:effectLst/>
                <a:ea typeface="DengXian" panose="02010600030101010101" pitchFamily="2" charset="-122"/>
                <a:cs typeface="Times New Roman" panose="02020603050405020304" pitchFamily="18" charset="0"/>
              </a:rPr>
              <a:t>测试的依据</a:t>
            </a:r>
            <a:r>
              <a:rPr lang="en-US" altLang="zh-CN" sz="1800" dirty="0">
                <a:effectLst/>
                <a:ea typeface="DengXian" panose="02010600030101010101" pitchFamily="2" charset="-122"/>
                <a:cs typeface="Times New Roman" panose="02020603050405020304" pitchFamily="18" charset="0"/>
              </a:rPr>
              <a:t>&amp;</a:t>
            </a:r>
            <a:r>
              <a:rPr lang="zh-CN" altLang="zh-CN" sz="1800" dirty="0">
                <a:effectLst/>
                <a:ea typeface="DengXian" panose="02010600030101010101" pitchFamily="2" charset="-122"/>
                <a:cs typeface="Times New Roman" panose="02020603050405020304" pitchFamily="18" charset="0"/>
              </a:rPr>
              <a:t>验收标准</a:t>
            </a:r>
            <a:r>
              <a:rPr lang="zh-CN" altLang="zh-CN" dirty="0">
                <a:effectLst/>
              </a:rPr>
              <a:t> </a:t>
            </a:r>
            <a:endParaRPr lang="zh-CN" altLang="en-US" dirty="0"/>
          </a:p>
        </p:txBody>
      </p:sp>
    </p:spTree>
    <p:extLst>
      <p:ext uri="{BB962C8B-B14F-4D97-AF65-F5344CB8AC3E}">
        <p14:creationId xmlns:p14="http://schemas.microsoft.com/office/powerpoint/2010/main" val="378423840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1649</Words>
  <Application>Microsoft Office PowerPoint</Application>
  <PresentationFormat>宽屏</PresentationFormat>
  <Paragraphs>172</Paragraphs>
  <Slides>12</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Söhne</vt:lpstr>
      <vt:lpstr>等线</vt:lpstr>
      <vt:lpstr>等线</vt:lpstr>
      <vt:lpstr>等线 Light</vt:lpstr>
      <vt:lpstr>仿宋</vt:lpstr>
      <vt:lpstr>宋体</vt:lpstr>
      <vt:lpstr>微软雅黑</vt:lpstr>
      <vt:lpstr>Arial</vt:lpstr>
      <vt:lpstr>Source Sans Pro Light</vt:lpstr>
      <vt:lpstr>Symbol</vt:lpstr>
      <vt:lpstr>Office 主题​​</vt:lpstr>
      <vt:lpstr>界面粘接质量</vt:lpstr>
      <vt:lpstr>PowerPoint 演示文稿</vt:lpstr>
      <vt:lpstr>界面粘接质量指标及升级</vt:lpstr>
      <vt:lpstr>PowerPoint 演示文稿</vt:lpstr>
      <vt:lpstr>对粘接性能的影响调研</vt:lpstr>
      <vt:lpstr>PowerPoint 演示文稿</vt:lpstr>
      <vt:lpstr>PowerPoint 演示文稿</vt:lpstr>
      <vt:lpstr>PowerPoint 演示文稿</vt:lpstr>
      <vt:lpstr>PowerPoint 演示文稿</vt:lpstr>
      <vt:lpstr>基于随机森林和改进竞争群算法</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王晶钰</dc:creator>
  <cp:lastModifiedBy>王晶钰</cp:lastModifiedBy>
  <cp:revision>1</cp:revision>
  <dcterms:created xsi:type="dcterms:W3CDTF">2025-11-10T04:54:24Z</dcterms:created>
  <dcterms:modified xsi:type="dcterms:W3CDTF">2025-11-10T05:33:43Z</dcterms:modified>
</cp:coreProperties>
</file>